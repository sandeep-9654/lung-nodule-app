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365760"/>
            <a:ext cx="10058400" cy="365760"/>
          </a:xfrm>
          <a:prstGeom prst="rect">
            <a:avLst/>
          </a:prstGeom>
          <a:noFill/>
        </p:spPr>
        <p:txBody>
          <a:bodyPr wrap="square">
            <a:spAutoFit/>
          </a:bodyPr>
          <a:lstStyle/>
          <a:p>
            <a:pPr algn="ctr">
              <a:defRPr sz="1400" b="1">
                <a:solidFill>
                  <a:srgbClr val="4F46E5"/>
                </a:solidFill>
                <a:latin typeface="Inter"/>
              </a:defRPr>
            </a:pPr>
            <a:r>
              <a:t>B.Tech Final Year Project — CSE (Data Science)</a:t>
            </a:r>
          </a:p>
        </p:txBody>
      </p:sp>
      <p:sp>
        <p:nvSpPr>
          <p:cNvPr id="3" name="TextBox 2"/>
          <p:cNvSpPr txBox="1"/>
          <p:nvPr/>
        </p:nvSpPr>
        <p:spPr>
          <a:xfrm>
            <a:off x="914400" y="914400"/>
            <a:ext cx="10058400" cy="1280160"/>
          </a:xfrm>
          <a:prstGeom prst="rect">
            <a:avLst/>
          </a:prstGeom>
          <a:noFill/>
        </p:spPr>
        <p:txBody>
          <a:bodyPr wrap="square">
            <a:spAutoFit/>
          </a:bodyPr>
          <a:lstStyle/>
          <a:p>
            <a:pPr algn="ctr">
              <a:defRPr sz="3000" b="1">
                <a:solidFill>
                  <a:srgbClr val="0F172A"/>
                </a:solidFill>
                <a:latin typeface="Inter"/>
              </a:defRPr>
            </a:pPr>
            <a:r>
              <a:t>Volumetric CT Scan Analysis for Pulmonary</a:t>
            </a:r>
            <a:br/>
            <a:r>
              <a:t>Nodule Detection and Malignancy Classification Using</a:t>
            </a:r>
            <a:br/>
            <a:r>
              <a:t>3D CNN Architectures</a:t>
            </a:r>
          </a:p>
        </p:txBody>
      </p:sp>
      <p:sp>
        <p:nvSpPr>
          <p:cNvPr id="4" name="TextBox 3"/>
          <p:cNvSpPr txBox="1"/>
          <p:nvPr/>
        </p:nvSpPr>
        <p:spPr>
          <a:xfrm>
            <a:off x="1828800" y="2377440"/>
            <a:ext cx="8229600" cy="640080"/>
          </a:xfrm>
          <a:prstGeom prst="rect">
            <a:avLst/>
          </a:prstGeom>
          <a:noFill/>
        </p:spPr>
        <p:txBody>
          <a:bodyPr wrap="square">
            <a:spAutoFit/>
          </a:bodyPr>
          <a:lstStyle/>
          <a:p>
            <a:pPr algn="ctr">
              <a:defRPr sz="1400" b="0">
                <a:solidFill>
                  <a:srgbClr val="475569"/>
                </a:solidFill>
                <a:latin typeface="Inter"/>
              </a:defRPr>
            </a:pPr>
            <a:r>
              <a:t>A smart system that automatically finds lung nodules in CT scans using 3D deep learning helping doctors detect lung cancer earlier and more accurately.</a:t>
            </a:r>
          </a:p>
        </p:txBody>
      </p:sp>
      <p:sp>
        <p:nvSpPr>
          <p:cNvPr id="5" name="TextBox 4"/>
          <p:cNvSpPr txBox="1"/>
          <p:nvPr/>
        </p:nvSpPr>
        <p:spPr>
          <a:xfrm>
            <a:off x="4114800" y="3200400"/>
            <a:ext cx="3657600" cy="274320"/>
          </a:xfrm>
          <a:prstGeom prst="rect">
            <a:avLst/>
          </a:prstGeom>
          <a:noFill/>
        </p:spPr>
        <p:txBody>
          <a:bodyPr wrap="square">
            <a:spAutoFit/>
          </a:bodyPr>
          <a:lstStyle/>
          <a:p>
            <a:pPr algn="ctr">
              <a:defRPr sz="1100" b="1">
                <a:solidFill>
                  <a:srgbClr val="94A3B8"/>
                </a:solidFill>
                <a:latin typeface="Inter"/>
              </a:defRPr>
            </a:pPr>
            <a:r>
              <a:t>PROJECT GUIDE</a:t>
            </a:r>
          </a:p>
        </p:txBody>
      </p:sp>
      <p:sp>
        <p:nvSpPr>
          <p:cNvPr id="6" name="Rounded Rectangle 5"/>
          <p:cNvSpPr/>
          <p:nvPr/>
        </p:nvSpPr>
        <p:spPr>
          <a:xfrm>
            <a:off x="4572000" y="3520440"/>
            <a:ext cx="2743200"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F172A"/>
                </a:solidFill>
                <a:latin typeface="Inter"/>
              </a:defRPr>
            </a:pPr>
            <a:r>
              <a:t>J. Ravindra Babu</a:t>
            </a:r>
          </a:p>
          <a:p>
            <a:pPr>
              <a:spcBef>
                <a:spcPts val="600"/>
              </a:spcBef>
              <a:defRPr sz="1100">
                <a:solidFill>
                  <a:srgbClr val="475569"/>
                </a:solidFill>
                <a:latin typeface="Inter"/>
              </a:defRPr>
            </a:pPr>
            <a:r>
              <a:t>Assistant Professor</a:t>
            </a:r>
          </a:p>
        </p:txBody>
      </p:sp>
      <p:sp>
        <p:nvSpPr>
          <p:cNvPr id="7" name="TextBox 6"/>
          <p:cNvSpPr txBox="1"/>
          <p:nvPr/>
        </p:nvSpPr>
        <p:spPr>
          <a:xfrm>
            <a:off x="914400" y="4480560"/>
            <a:ext cx="10058400" cy="274320"/>
          </a:xfrm>
          <a:prstGeom prst="rect">
            <a:avLst/>
          </a:prstGeom>
          <a:noFill/>
        </p:spPr>
        <p:txBody>
          <a:bodyPr wrap="square">
            <a:spAutoFit/>
          </a:bodyPr>
          <a:lstStyle/>
          <a:p>
            <a:pPr algn="ctr">
              <a:defRPr sz="1100" b="1">
                <a:solidFill>
                  <a:srgbClr val="94A3B8"/>
                </a:solidFill>
                <a:latin typeface="Inter"/>
              </a:defRPr>
            </a:pPr>
            <a:r>
              <a:t>TEAM MEMBERS</a:t>
            </a:r>
          </a:p>
        </p:txBody>
      </p:sp>
      <p:sp>
        <p:nvSpPr>
          <p:cNvPr id="8" name="Rounded Rectangle 7"/>
          <p:cNvSpPr/>
          <p:nvPr/>
        </p:nvSpPr>
        <p:spPr>
          <a:xfrm>
            <a:off x="1188720" y="4846320"/>
            <a:ext cx="18288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100" b="1">
                <a:solidFill>
                  <a:srgbClr val="0F172A"/>
                </a:solidFill>
                <a:latin typeface="Inter"/>
              </a:defRPr>
            </a:pPr>
            <a:r>
              <a:t>B. Sandeep Raghavendra</a:t>
            </a:r>
          </a:p>
        </p:txBody>
      </p:sp>
      <p:sp>
        <p:nvSpPr>
          <p:cNvPr id="9" name="Rounded Rectangle 8"/>
          <p:cNvSpPr/>
          <p:nvPr/>
        </p:nvSpPr>
        <p:spPr>
          <a:xfrm>
            <a:off x="3200400" y="4846320"/>
            <a:ext cx="18288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100" b="1">
                <a:solidFill>
                  <a:srgbClr val="0F172A"/>
                </a:solidFill>
                <a:latin typeface="Inter"/>
              </a:defRPr>
            </a:pPr>
            <a:r>
              <a:t>A. Jaswanth Kumar</a:t>
            </a:r>
          </a:p>
        </p:txBody>
      </p:sp>
      <p:sp>
        <p:nvSpPr>
          <p:cNvPr id="10" name="Rounded Rectangle 9"/>
          <p:cNvSpPr/>
          <p:nvPr/>
        </p:nvSpPr>
        <p:spPr>
          <a:xfrm>
            <a:off x="5212080" y="4846320"/>
            <a:ext cx="18288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100" b="1">
                <a:solidFill>
                  <a:srgbClr val="0F172A"/>
                </a:solidFill>
                <a:latin typeface="Inter"/>
              </a:defRPr>
            </a:pPr>
            <a:r>
              <a:t>G. Vignan</a:t>
            </a:r>
          </a:p>
        </p:txBody>
      </p:sp>
      <p:sp>
        <p:nvSpPr>
          <p:cNvPr id="11" name="Rounded Rectangle 10"/>
          <p:cNvSpPr/>
          <p:nvPr/>
        </p:nvSpPr>
        <p:spPr>
          <a:xfrm>
            <a:off x="7223760" y="4846320"/>
            <a:ext cx="18288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100" b="1">
                <a:solidFill>
                  <a:srgbClr val="0F172A"/>
                </a:solidFill>
                <a:latin typeface="Inter"/>
              </a:defRPr>
            </a:pPr>
            <a:r>
              <a:t>J. Ganesh</a:t>
            </a:r>
          </a:p>
        </p:txBody>
      </p:sp>
      <p:sp>
        <p:nvSpPr>
          <p:cNvPr id="12" name="Rounded Rectangle 11"/>
          <p:cNvSpPr/>
          <p:nvPr/>
        </p:nvSpPr>
        <p:spPr>
          <a:xfrm>
            <a:off x="9235440" y="4846320"/>
            <a:ext cx="18288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100" b="1">
                <a:solidFill>
                  <a:srgbClr val="0F172A"/>
                </a:solidFill>
                <a:latin typeface="Inter"/>
              </a:defRPr>
            </a:pPr>
            <a:r>
              <a:t>K. Madhu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02.</a:t>
            </a:r>
            <a:r>
              <a:rPr sz="2800" b="1">
                <a:solidFill>
                  <a:srgbClr val="0F172A"/>
                </a:solidFill>
                <a:latin typeface="Inter"/>
              </a:rPr>
              <a:t>  Abstract</a:t>
            </a:r>
          </a:p>
        </p:txBody>
      </p:sp>
      <p:sp>
        <p:nvSpPr>
          <p:cNvPr id="3" name="Rounded Rectangle 2"/>
          <p:cNvSpPr/>
          <p:nvPr/>
        </p:nvSpPr>
        <p:spPr>
          <a:xfrm>
            <a:off x="1371600" y="1371600"/>
            <a:ext cx="914400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4000" rIns="254000" tIns="254000"/>
          <a:lstStyle/>
          <a:p>
            <a:pPr algn="ctr">
              <a:lnSpc>
                <a:spcPts val="2600"/>
              </a:lnSpc>
              <a:defRPr sz="1600">
                <a:solidFill>
                  <a:srgbClr val="475569"/>
                </a:solidFill>
                <a:latin typeface="Inter"/>
              </a:defRPr>
            </a:pPr>
            <a:r>
              <a:t>Lung cancer is the leading cause of cancer deaths worldwide. Early detection of small growths called nodules in CT scans can significantly improve survival rates. However, manually reviewing hundreds of scan slices is slow and prone to human error.</a:t>
            </a:r>
            <a:br/>
            <a:br/>
            <a:r>
              <a:t>This project presents a complete web-based application that uses a 3D deep learning model to automatically detect and locate lung nodules in CT scans. The system processes full 3D scan volumes, identifies suspicious regions, and generates diagnostic reports — acting as an AI assistant for radiologists.</a:t>
            </a:r>
            <a:br/>
            <a:br/>
            <a:r>
              <a:t>Trained on the LUNA16 benchmark dataset (888 CT scans), our model achieves 94.2% detection rate with only 1.79 false alarms per scan, making it suitable as a clinical screening aid.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03.</a:t>
            </a:r>
            <a:r>
              <a:rPr sz="2800" b="1">
                <a:solidFill>
                  <a:srgbClr val="0F172A"/>
                </a:solidFill>
                <a:latin typeface="Inter"/>
              </a:rPr>
              <a:t>  Objectives</a:t>
            </a:r>
          </a:p>
        </p:txBody>
      </p:sp>
      <p:sp>
        <p:nvSpPr>
          <p:cNvPr id="3" name="Rounded Rectangle 2"/>
          <p:cNvSpPr/>
          <p:nvPr/>
        </p:nvSpPr>
        <p:spPr>
          <a:xfrm>
            <a:off x="914400" y="1371600"/>
            <a:ext cx="502920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Automated Detection</a:t>
            </a:r>
          </a:p>
          <a:p>
            <a:pPr>
              <a:spcBef>
                <a:spcPts val="600"/>
              </a:spcBef>
              <a:defRPr sz="1400">
                <a:solidFill>
                  <a:srgbClr val="475569"/>
                </a:solidFill>
                <a:latin typeface="Inter"/>
              </a:defRPr>
            </a:pPr>
            <a:r>
              <a:t>Build a system that can automatically find lung nodules in 3D CT scans without manual intervention.</a:t>
            </a:r>
          </a:p>
        </p:txBody>
      </p:sp>
      <p:sp>
        <p:nvSpPr>
          <p:cNvPr id="4" name="Rounded Rectangle 3"/>
          <p:cNvSpPr/>
          <p:nvPr/>
        </p:nvSpPr>
        <p:spPr>
          <a:xfrm>
            <a:off x="6217920" y="1371600"/>
            <a:ext cx="502920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High Accuracy</a:t>
            </a:r>
          </a:p>
          <a:p>
            <a:pPr>
              <a:spcBef>
                <a:spcPts val="600"/>
              </a:spcBef>
              <a:defRPr sz="1400">
                <a:solidFill>
                  <a:srgbClr val="475569"/>
                </a:solidFill>
                <a:latin typeface="Inter"/>
              </a:defRPr>
            </a:pPr>
            <a:r>
              <a:t>Achieve over 90% detection rate while keeping false alarms low — reducing missed diagnoses.</a:t>
            </a:r>
          </a:p>
        </p:txBody>
      </p:sp>
      <p:sp>
        <p:nvSpPr>
          <p:cNvPr id="5" name="Rounded Rectangle 4"/>
          <p:cNvSpPr/>
          <p:nvPr/>
        </p:nvSpPr>
        <p:spPr>
          <a:xfrm>
            <a:off x="914400" y="2834640"/>
            <a:ext cx="502920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Web Application</a:t>
            </a:r>
          </a:p>
          <a:p>
            <a:pPr>
              <a:spcBef>
                <a:spcPts val="600"/>
              </a:spcBef>
              <a:defRPr sz="1400">
                <a:solidFill>
                  <a:srgbClr val="475569"/>
                </a:solidFill>
                <a:latin typeface="Inter"/>
              </a:defRPr>
            </a:pPr>
            <a:r>
              <a:t>Create an easy-to-use web interface where doctors can upload scans and view results instantly.</a:t>
            </a:r>
          </a:p>
        </p:txBody>
      </p:sp>
      <p:sp>
        <p:nvSpPr>
          <p:cNvPr id="6" name="Rounded Rectangle 5"/>
          <p:cNvSpPr/>
          <p:nvPr/>
        </p:nvSpPr>
        <p:spPr>
          <a:xfrm>
            <a:off x="6217920" y="2834640"/>
            <a:ext cx="502920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Report Generation</a:t>
            </a:r>
          </a:p>
          <a:p>
            <a:pPr>
              <a:spcBef>
                <a:spcPts val="600"/>
              </a:spcBef>
              <a:defRPr sz="1400">
                <a:solidFill>
                  <a:srgbClr val="475569"/>
                </a:solidFill>
                <a:latin typeface="Inter"/>
              </a:defRPr>
            </a:pPr>
            <a:r>
              <a:t>Automatically generate diagnostic reports with nodule locations, sizes, and confidence scores.</a:t>
            </a:r>
          </a:p>
        </p:txBody>
      </p:sp>
      <p:sp>
        <p:nvSpPr>
          <p:cNvPr id="7" name="Rounded Rectangle 6"/>
          <p:cNvSpPr/>
          <p:nvPr/>
        </p:nvSpPr>
        <p:spPr>
          <a:xfrm>
            <a:off x="914400" y="4297680"/>
            <a:ext cx="502920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Visual Inspection</a:t>
            </a:r>
          </a:p>
          <a:p>
            <a:pPr>
              <a:spcBef>
                <a:spcPts val="600"/>
              </a:spcBef>
              <a:defRPr sz="1400">
                <a:solidFill>
                  <a:srgbClr val="475569"/>
                </a:solidFill>
                <a:latin typeface="Inter"/>
              </a:defRPr>
            </a:pPr>
            <a:r>
              <a:t>Provide an interactive slice viewer so doctors can scroll through scans and verify AI findings.</a:t>
            </a:r>
          </a:p>
        </p:txBody>
      </p:sp>
      <p:sp>
        <p:nvSpPr>
          <p:cNvPr id="8" name="Rounded Rectangle 7"/>
          <p:cNvSpPr/>
          <p:nvPr/>
        </p:nvSpPr>
        <p:spPr>
          <a:xfrm>
            <a:off x="6217920" y="4297680"/>
            <a:ext cx="502920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Clinical Aid</a:t>
            </a:r>
          </a:p>
          <a:p>
            <a:pPr>
              <a:spcBef>
                <a:spcPts val="600"/>
              </a:spcBef>
              <a:defRPr sz="1400">
                <a:solidFill>
                  <a:srgbClr val="475569"/>
                </a:solidFill>
                <a:latin typeface="Inter"/>
              </a:defRPr>
            </a:pPr>
            <a:r>
              <a:t>Serve as a "second reader" that assists radiologists — not replaces them — in faster screening.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04.</a:t>
            </a:r>
            <a:r>
              <a:rPr sz="2800" b="1">
                <a:solidFill>
                  <a:srgbClr val="0F172A"/>
                </a:solidFill>
                <a:latin typeface="Inter"/>
              </a:rPr>
              <a:t>  System Overview</a:t>
            </a:r>
          </a:p>
        </p:txBody>
      </p:sp>
      <p:sp>
        <p:nvSpPr>
          <p:cNvPr id="3" name="TextBox 2"/>
          <p:cNvSpPr txBox="1"/>
          <p:nvPr/>
        </p:nvSpPr>
        <p:spPr>
          <a:xfrm>
            <a:off x="1828800" y="1188720"/>
            <a:ext cx="8229600" cy="457200"/>
          </a:xfrm>
          <a:prstGeom prst="rect">
            <a:avLst/>
          </a:prstGeom>
          <a:noFill/>
        </p:spPr>
        <p:txBody>
          <a:bodyPr wrap="square">
            <a:spAutoFit/>
          </a:bodyPr>
          <a:lstStyle/>
          <a:p>
            <a:pPr algn="ctr">
              <a:defRPr sz="1400" b="0">
                <a:solidFill>
                  <a:srgbClr val="475569"/>
                </a:solidFill>
                <a:latin typeface="Inter"/>
              </a:defRPr>
            </a:pPr>
            <a:r>
              <a:t>The application has three main parts working together: a user interface, a server, and an AI engine.</a:t>
            </a:r>
          </a:p>
        </p:txBody>
      </p:sp>
      <p:sp>
        <p:nvSpPr>
          <p:cNvPr id="4" name="Rounded Rectangle 3"/>
          <p:cNvSpPr/>
          <p:nvPr/>
        </p:nvSpPr>
        <p:spPr>
          <a:xfrm>
            <a:off x="1371600" y="1828800"/>
            <a:ext cx="2926080" cy="914400"/>
          </a:xfrm>
          <a:prstGeom prst="roundRect">
            <a:avLst/>
          </a:prstGeom>
          <a:solidFill>
            <a:srgbClr val="F8FAFC"/>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defRPr sz="1500" b="1">
                <a:solidFill>
                  <a:srgbClr val="0F172A"/>
                </a:solidFill>
                <a:latin typeface="Inter"/>
              </a:defRPr>
            </a:pPr>
            <a:r>
              <a:t>🖥️ Frontend</a:t>
            </a:r>
          </a:p>
          <a:p>
            <a:pPr algn="ctr">
              <a:spcBef>
                <a:spcPts val="600"/>
              </a:spcBef>
              <a:defRPr sz="1200" b="0">
                <a:solidFill>
                  <a:srgbClr val="94A3B8"/>
                </a:solidFill>
                <a:latin typeface="Inter"/>
              </a:defRPr>
            </a:pPr>
            <a:r>
              <a:t>React Web Interface</a:t>
            </a:r>
          </a:p>
        </p:txBody>
      </p:sp>
      <p:sp>
        <p:nvSpPr>
          <p:cNvPr id="5" name="Rounded Rectangle 4"/>
          <p:cNvSpPr/>
          <p:nvPr/>
        </p:nvSpPr>
        <p:spPr>
          <a:xfrm>
            <a:off x="5029200" y="1828800"/>
            <a:ext cx="2926080" cy="914400"/>
          </a:xfrm>
          <a:prstGeom prst="roundRect">
            <a:avLst/>
          </a:prstGeom>
          <a:solidFill>
            <a:srgbClr val="F8FAFC"/>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defRPr sz="1500" b="1">
                <a:solidFill>
                  <a:srgbClr val="0F172A"/>
                </a:solidFill>
                <a:latin typeface="Inter"/>
              </a:defRPr>
            </a:pPr>
            <a:r>
              <a:t>⚙️ Backend Server</a:t>
            </a:r>
          </a:p>
          <a:p>
            <a:pPr algn="ctr">
              <a:spcBef>
                <a:spcPts val="600"/>
              </a:spcBef>
              <a:defRPr sz="1200" b="0">
                <a:solidFill>
                  <a:srgbClr val="94A3B8"/>
                </a:solidFill>
                <a:latin typeface="Inter"/>
              </a:defRPr>
            </a:pPr>
            <a:r>
              <a:t>Flask REST API</a:t>
            </a:r>
          </a:p>
        </p:txBody>
      </p:sp>
      <p:sp>
        <p:nvSpPr>
          <p:cNvPr id="6" name="Rounded Rectangle 5"/>
          <p:cNvSpPr/>
          <p:nvPr/>
        </p:nvSpPr>
        <p:spPr>
          <a:xfrm>
            <a:off x="8686800" y="1828800"/>
            <a:ext cx="2926080" cy="914400"/>
          </a:xfrm>
          <a:prstGeom prst="roundRect">
            <a:avLst/>
          </a:prstGeom>
          <a:solidFill>
            <a:srgbClr val="F8FAFC"/>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defRPr sz="1500" b="1">
                <a:solidFill>
                  <a:srgbClr val="0F172A"/>
                </a:solidFill>
                <a:latin typeface="Inter"/>
              </a:defRPr>
            </a:pPr>
            <a:r>
              <a:t>🧠 AI Engine</a:t>
            </a:r>
          </a:p>
          <a:p>
            <a:pPr algn="ctr">
              <a:spcBef>
                <a:spcPts val="600"/>
              </a:spcBef>
              <a:defRPr sz="1200" b="0">
                <a:solidFill>
                  <a:srgbClr val="94A3B8"/>
                </a:solidFill>
                <a:latin typeface="Inter"/>
              </a:defRPr>
            </a:pPr>
            <a:r>
              <a:t>3D U-Net Model</a:t>
            </a:r>
          </a:p>
        </p:txBody>
      </p:sp>
      <p:sp>
        <p:nvSpPr>
          <p:cNvPr id="7" name="TextBox 6"/>
          <p:cNvSpPr txBox="1"/>
          <p:nvPr/>
        </p:nvSpPr>
        <p:spPr>
          <a:xfrm>
            <a:off x="4297680" y="2057400"/>
            <a:ext cx="457200" cy="457200"/>
          </a:xfrm>
          <a:prstGeom prst="rect">
            <a:avLst/>
          </a:prstGeom>
          <a:noFill/>
        </p:spPr>
        <p:txBody>
          <a:bodyPr wrap="square">
            <a:spAutoFit/>
          </a:bodyPr>
          <a:lstStyle/>
          <a:p>
            <a:pPr algn="ctr">
              <a:defRPr sz="2400" b="0">
                <a:solidFill>
                  <a:srgbClr val="4F46E5"/>
                </a:solidFill>
                <a:latin typeface="Inter"/>
              </a:defRPr>
            </a:pPr>
            <a:r>
              <a:t>⇄</a:t>
            </a:r>
          </a:p>
        </p:txBody>
      </p:sp>
      <p:sp>
        <p:nvSpPr>
          <p:cNvPr id="8" name="TextBox 7"/>
          <p:cNvSpPr txBox="1"/>
          <p:nvPr/>
        </p:nvSpPr>
        <p:spPr>
          <a:xfrm>
            <a:off x="7955279" y="2057400"/>
            <a:ext cx="457200" cy="457200"/>
          </a:xfrm>
          <a:prstGeom prst="rect">
            <a:avLst/>
          </a:prstGeom>
          <a:noFill/>
        </p:spPr>
        <p:txBody>
          <a:bodyPr wrap="square">
            <a:spAutoFit/>
          </a:bodyPr>
          <a:lstStyle/>
          <a:p>
            <a:pPr algn="ctr">
              <a:defRPr sz="2400" b="0">
                <a:solidFill>
                  <a:srgbClr val="4F46E5"/>
                </a:solidFill>
                <a:latin typeface="Inter"/>
              </a:defRPr>
            </a:pPr>
            <a:r>
              <a:t>⇄</a:t>
            </a:r>
          </a:p>
        </p:txBody>
      </p:sp>
      <p:sp>
        <p:nvSpPr>
          <p:cNvPr id="9" name="Rounded Rectangle 8"/>
          <p:cNvSpPr/>
          <p:nvPr/>
        </p:nvSpPr>
        <p:spPr>
          <a:xfrm>
            <a:off x="914400" y="3108960"/>
            <a:ext cx="5029200" cy="3200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What the User Sees</a:t>
            </a:r>
          </a:p>
          <a:p>
            <a:pPr>
              <a:spcBef>
                <a:spcPts val="400"/>
              </a:spcBef>
              <a:defRPr sz="1300">
                <a:solidFill>
                  <a:srgbClr val="475569"/>
                </a:solidFill>
                <a:latin typeface="Inter"/>
              </a:defRPr>
            </a:pPr>
            <a:r>
              <a:t>▸ Home — Overview and quick access</a:t>
            </a:r>
          </a:p>
          <a:p>
            <a:pPr>
              <a:spcBef>
                <a:spcPts val="400"/>
              </a:spcBef>
              <a:defRPr sz="1300">
                <a:solidFill>
                  <a:srgbClr val="475569"/>
                </a:solidFill>
                <a:latin typeface="Inter"/>
              </a:defRPr>
            </a:pPr>
            <a:r>
              <a:t>▸ Analyze — Upload scans and view AI results</a:t>
            </a:r>
          </a:p>
          <a:p>
            <a:pPr>
              <a:spcBef>
                <a:spcPts val="400"/>
              </a:spcBef>
              <a:defRPr sz="1300">
                <a:solidFill>
                  <a:srgbClr val="475569"/>
                </a:solidFill>
                <a:latin typeface="Inter"/>
              </a:defRPr>
            </a:pPr>
            <a:r>
              <a:t>▸ Performance — Model accuracy charts</a:t>
            </a:r>
          </a:p>
          <a:p>
            <a:pPr>
              <a:spcBef>
                <a:spcPts val="400"/>
              </a:spcBef>
              <a:defRPr sz="1300">
                <a:solidFill>
                  <a:srgbClr val="475569"/>
                </a:solidFill>
                <a:latin typeface="Inter"/>
              </a:defRPr>
            </a:pPr>
            <a:r>
              <a:t>▸ About — Team and project information</a:t>
            </a:r>
          </a:p>
        </p:txBody>
      </p:sp>
      <p:sp>
        <p:nvSpPr>
          <p:cNvPr id="10" name="Rounded Rectangle 9"/>
          <p:cNvSpPr/>
          <p:nvPr/>
        </p:nvSpPr>
        <p:spPr>
          <a:xfrm>
            <a:off x="6217920" y="3108960"/>
            <a:ext cx="5029200" cy="3200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What Happens Behind</a:t>
            </a:r>
          </a:p>
          <a:p>
            <a:pPr>
              <a:spcBef>
                <a:spcPts val="400"/>
              </a:spcBef>
              <a:defRPr sz="1300">
                <a:solidFill>
                  <a:srgbClr val="475569"/>
                </a:solidFill>
                <a:latin typeface="Inter"/>
              </a:defRPr>
            </a:pPr>
            <a:r>
              <a:t>▸ Upload handler accepts CT scan files</a:t>
            </a:r>
          </a:p>
          <a:p>
            <a:pPr>
              <a:spcBef>
                <a:spcPts val="400"/>
              </a:spcBef>
              <a:defRPr sz="1300">
                <a:solidFill>
                  <a:srgbClr val="475569"/>
                </a:solidFill>
                <a:latin typeface="Inter"/>
              </a:defRPr>
            </a:pPr>
            <a:r>
              <a:t>▸ Preprocessing normalizes the 3D volume</a:t>
            </a:r>
          </a:p>
          <a:p>
            <a:pPr>
              <a:spcBef>
                <a:spcPts val="400"/>
              </a:spcBef>
              <a:defRPr sz="1300">
                <a:solidFill>
                  <a:srgbClr val="475569"/>
                </a:solidFill>
                <a:latin typeface="Inter"/>
              </a:defRPr>
            </a:pPr>
            <a:r>
              <a:t>▸ AI model scans the entire volume</a:t>
            </a:r>
          </a:p>
          <a:p>
            <a:pPr>
              <a:spcBef>
                <a:spcPts val="400"/>
              </a:spcBef>
              <a:defRPr sz="1300">
                <a:solidFill>
                  <a:srgbClr val="475569"/>
                </a:solidFill>
                <a:latin typeface="Inter"/>
              </a:defRPr>
            </a:pPr>
            <a:r>
              <a:t>▸ Results saved to database and sent to user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05.</a:t>
            </a:r>
            <a:r>
              <a:rPr sz="2800" b="1">
                <a:solidFill>
                  <a:srgbClr val="0F172A"/>
                </a:solidFill>
                <a:latin typeface="Inter"/>
              </a:rPr>
              <a:t>  Workflow</a:t>
            </a:r>
          </a:p>
        </p:txBody>
      </p:sp>
      <p:sp>
        <p:nvSpPr>
          <p:cNvPr id="3" name="TextBox 2"/>
          <p:cNvSpPr txBox="1"/>
          <p:nvPr/>
        </p:nvSpPr>
        <p:spPr>
          <a:xfrm>
            <a:off x="1828800" y="1188720"/>
            <a:ext cx="8229600" cy="457200"/>
          </a:xfrm>
          <a:prstGeom prst="rect">
            <a:avLst/>
          </a:prstGeom>
          <a:noFill/>
        </p:spPr>
        <p:txBody>
          <a:bodyPr wrap="square">
            <a:spAutoFit/>
          </a:bodyPr>
          <a:lstStyle/>
          <a:p>
            <a:pPr algn="ctr">
              <a:defRPr sz="1400" b="0">
                <a:solidFill>
                  <a:srgbClr val="475569"/>
                </a:solidFill>
                <a:latin typeface="Inter"/>
              </a:defRPr>
            </a:pPr>
            <a:r>
              <a:t>Step-by-step flow of how a CT scan goes from upload to diagnosis report.</a:t>
            </a:r>
          </a:p>
        </p:txBody>
      </p:sp>
      <p:sp>
        <p:nvSpPr>
          <p:cNvPr id="4" name="Rounded Rectangle 3"/>
          <p:cNvSpPr/>
          <p:nvPr/>
        </p:nvSpPr>
        <p:spPr>
          <a:xfrm>
            <a:off x="457200" y="1828800"/>
            <a:ext cx="182880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a:lstStyle/>
          <a:p>
            <a:pPr algn="ctr">
              <a:defRPr sz="1300" b="1">
                <a:solidFill>
                  <a:srgbClr val="0F172A"/>
                </a:solidFill>
                <a:latin typeface="Inter"/>
              </a:defRPr>
            </a:pPr>
            <a:r>
              <a:t>1. Upload</a:t>
            </a:r>
          </a:p>
          <a:p>
            <a:pPr algn="ctr">
              <a:spcBef>
                <a:spcPts val="600"/>
              </a:spcBef>
              <a:defRPr sz="1100" b="0">
                <a:solidFill>
                  <a:srgbClr val="94A3B8"/>
                </a:solidFill>
                <a:latin typeface="Inter"/>
              </a:defRPr>
            </a:pPr>
            <a:r>
              <a:t>CT scan file</a:t>
            </a:r>
          </a:p>
        </p:txBody>
      </p:sp>
      <p:sp>
        <p:nvSpPr>
          <p:cNvPr id="5" name="TextBox 4"/>
          <p:cNvSpPr txBox="1"/>
          <p:nvPr/>
        </p:nvSpPr>
        <p:spPr>
          <a:xfrm>
            <a:off x="2286000" y="2057400"/>
            <a:ext cx="457200" cy="457200"/>
          </a:xfrm>
          <a:prstGeom prst="rect">
            <a:avLst/>
          </a:prstGeom>
          <a:noFill/>
        </p:spPr>
        <p:txBody>
          <a:bodyPr wrap="square">
            <a:spAutoFit/>
          </a:bodyPr>
          <a:lstStyle/>
          <a:p>
            <a:pPr algn="ctr">
              <a:defRPr sz="2000" b="0">
                <a:solidFill>
                  <a:srgbClr val="4F46E5"/>
                </a:solidFill>
                <a:latin typeface="Inter"/>
              </a:defRPr>
            </a:pPr>
            <a:r>
              <a:t>→</a:t>
            </a:r>
          </a:p>
        </p:txBody>
      </p:sp>
      <p:sp>
        <p:nvSpPr>
          <p:cNvPr id="6" name="Rounded Rectangle 5"/>
          <p:cNvSpPr/>
          <p:nvPr/>
        </p:nvSpPr>
        <p:spPr>
          <a:xfrm>
            <a:off x="2743200" y="1828800"/>
            <a:ext cx="182880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a:lstStyle/>
          <a:p>
            <a:pPr algn="ctr">
              <a:defRPr sz="1300" b="1">
                <a:solidFill>
                  <a:srgbClr val="0F172A"/>
                </a:solidFill>
                <a:latin typeface="Inter"/>
              </a:defRPr>
            </a:pPr>
            <a:r>
              <a:t>2. Load Scan</a:t>
            </a:r>
          </a:p>
          <a:p>
            <a:pPr algn="ctr">
              <a:spcBef>
                <a:spcPts val="600"/>
              </a:spcBef>
              <a:defRPr sz="1100" b="0">
                <a:solidFill>
                  <a:srgbClr val="94A3B8"/>
                </a:solidFill>
                <a:latin typeface="Inter"/>
              </a:defRPr>
            </a:pPr>
            <a:r>
              <a:t>Read 3D volume</a:t>
            </a:r>
          </a:p>
        </p:txBody>
      </p:sp>
      <p:sp>
        <p:nvSpPr>
          <p:cNvPr id="7" name="TextBox 6"/>
          <p:cNvSpPr txBox="1"/>
          <p:nvPr/>
        </p:nvSpPr>
        <p:spPr>
          <a:xfrm>
            <a:off x="4572000" y="2057400"/>
            <a:ext cx="457200" cy="457200"/>
          </a:xfrm>
          <a:prstGeom prst="rect">
            <a:avLst/>
          </a:prstGeom>
          <a:noFill/>
        </p:spPr>
        <p:txBody>
          <a:bodyPr wrap="square">
            <a:spAutoFit/>
          </a:bodyPr>
          <a:lstStyle/>
          <a:p>
            <a:pPr algn="ctr">
              <a:defRPr sz="2000" b="0">
                <a:solidFill>
                  <a:srgbClr val="4F46E5"/>
                </a:solidFill>
                <a:latin typeface="Inter"/>
              </a:defRPr>
            </a:pPr>
            <a:r>
              <a:t>→</a:t>
            </a:r>
          </a:p>
        </p:txBody>
      </p:sp>
      <p:sp>
        <p:nvSpPr>
          <p:cNvPr id="8" name="Rounded Rectangle 7"/>
          <p:cNvSpPr/>
          <p:nvPr/>
        </p:nvSpPr>
        <p:spPr>
          <a:xfrm>
            <a:off x="5029200" y="1828800"/>
            <a:ext cx="182880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a:lstStyle/>
          <a:p>
            <a:pPr algn="ctr">
              <a:defRPr sz="1300" b="1">
                <a:solidFill>
                  <a:srgbClr val="0F172A"/>
                </a:solidFill>
                <a:latin typeface="Inter"/>
              </a:defRPr>
            </a:pPr>
            <a:r>
              <a:t>3. Preprocess</a:t>
            </a:r>
          </a:p>
          <a:p>
            <a:pPr algn="ctr">
              <a:spcBef>
                <a:spcPts val="600"/>
              </a:spcBef>
              <a:defRPr sz="1100" b="0">
                <a:solidFill>
                  <a:srgbClr val="94A3B8"/>
                </a:solidFill>
                <a:latin typeface="Inter"/>
              </a:defRPr>
            </a:pPr>
            <a:r>
              <a:t>Normalize &amp; prepare</a:t>
            </a:r>
          </a:p>
        </p:txBody>
      </p:sp>
      <p:sp>
        <p:nvSpPr>
          <p:cNvPr id="9" name="TextBox 8"/>
          <p:cNvSpPr txBox="1"/>
          <p:nvPr/>
        </p:nvSpPr>
        <p:spPr>
          <a:xfrm>
            <a:off x="6858000" y="2057400"/>
            <a:ext cx="457200" cy="457200"/>
          </a:xfrm>
          <a:prstGeom prst="rect">
            <a:avLst/>
          </a:prstGeom>
          <a:noFill/>
        </p:spPr>
        <p:txBody>
          <a:bodyPr wrap="square">
            <a:spAutoFit/>
          </a:bodyPr>
          <a:lstStyle/>
          <a:p>
            <a:pPr algn="ctr">
              <a:defRPr sz="2000" b="0">
                <a:solidFill>
                  <a:srgbClr val="4F46E5"/>
                </a:solidFill>
                <a:latin typeface="Inter"/>
              </a:defRPr>
            </a:pPr>
            <a:r>
              <a:t>→</a:t>
            </a:r>
          </a:p>
        </p:txBody>
      </p:sp>
      <p:sp>
        <p:nvSpPr>
          <p:cNvPr id="10" name="Rounded Rectangle 9"/>
          <p:cNvSpPr/>
          <p:nvPr/>
        </p:nvSpPr>
        <p:spPr>
          <a:xfrm>
            <a:off x="7315200" y="1828800"/>
            <a:ext cx="182880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a:lstStyle/>
          <a:p>
            <a:pPr algn="ctr">
              <a:defRPr sz="1300" b="1">
                <a:solidFill>
                  <a:srgbClr val="0F172A"/>
                </a:solidFill>
                <a:latin typeface="Inter"/>
              </a:defRPr>
            </a:pPr>
            <a:r>
              <a:t>4. Split Patches</a:t>
            </a:r>
          </a:p>
          <a:p>
            <a:pPr algn="ctr">
              <a:spcBef>
                <a:spcPts val="600"/>
              </a:spcBef>
              <a:defRPr sz="1100" b="0">
                <a:solidFill>
                  <a:srgbClr val="94A3B8"/>
                </a:solidFill>
                <a:latin typeface="Inter"/>
              </a:defRPr>
            </a:pPr>
            <a:r>
              <a:t>Divide into blocks</a:t>
            </a:r>
          </a:p>
        </p:txBody>
      </p:sp>
      <p:sp>
        <p:nvSpPr>
          <p:cNvPr id="11" name="TextBox 10"/>
          <p:cNvSpPr txBox="1"/>
          <p:nvPr/>
        </p:nvSpPr>
        <p:spPr>
          <a:xfrm>
            <a:off x="9144000" y="2057400"/>
            <a:ext cx="457200" cy="457200"/>
          </a:xfrm>
          <a:prstGeom prst="rect">
            <a:avLst/>
          </a:prstGeom>
          <a:noFill/>
        </p:spPr>
        <p:txBody>
          <a:bodyPr wrap="square">
            <a:spAutoFit/>
          </a:bodyPr>
          <a:lstStyle/>
          <a:p>
            <a:pPr algn="ctr">
              <a:defRPr sz="2000" b="0">
                <a:solidFill>
                  <a:srgbClr val="4F46E5"/>
                </a:solidFill>
                <a:latin typeface="Inter"/>
              </a:defRPr>
            </a:pPr>
            <a:r>
              <a:t>→</a:t>
            </a:r>
          </a:p>
        </p:txBody>
      </p:sp>
      <p:sp>
        <p:nvSpPr>
          <p:cNvPr id="12" name="Rounded Rectangle 11"/>
          <p:cNvSpPr/>
          <p:nvPr/>
        </p:nvSpPr>
        <p:spPr>
          <a:xfrm>
            <a:off x="9601200" y="1828800"/>
            <a:ext cx="182880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a:lstStyle/>
          <a:p>
            <a:pPr algn="ctr">
              <a:defRPr sz="1300" b="1">
                <a:solidFill>
                  <a:srgbClr val="0F172A"/>
                </a:solidFill>
                <a:latin typeface="Inter"/>
              </a:defRPr>
            </a:pPr>
            <a:r>
              <a:t>5. AI Analysis</a:t>
            </a:r>
          </a:p>
          <a:p>
            <a:pPr algn="ctr">
              <a:spcBef>
                <a:spcPts val="600"/>
              </a:spcBef>
              <a:defRPr sz="1100" b="0">
                <a:solidFill>
                  <a:srgbClr val="94A3B8"/>
                </a:solidFill>
                <a:latin typeface="Inter"/>
              </a:defRPr>
            </a:pPr>
            <a:r>
              <a:t>3D U-Net prediction</a:t>
            </a:r>
          </a:p>
        </p:txBody>
      </p:sp>
      <p:sp>
        <p:nvSpPr>
          <p:cNvPr id="13" name="Rounded Rectangle 12"/>
          <p:cNvSpPr/>
          <p:nvPr/>
        </p:nvSpPr>
        <p:spPr>
          <a:xfrm>
            <a:off x="457200" y="3840480"/>
            <a:ext cx="182880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a:lstStyle/>
          <a:p>
            <a:pPr algn="ctr">
              <a:defRPr sz="1300" b="1">
                <a:solidFill>
                  <a:srgbClr val="0F172A"/>
                </a:solidFill>
                <a:latin typeface="Inter"/>
              </a:defRPr>
            </a:pPr>
            <a:r>
              <a:t>6. Combine</a:t>
            </a:r>
          </a:p>
          <a:p>
            <a:pPr algn="ctr">
              <a:spcBef>
                <a:spcPts val="600"/>
              </a:spcBef>
              <a:defRPr sz="1100" b="0">
                <a:solidFill>
                  <a:srgbClr val="94A3B8"/>
                </a:solidFill>
                <a:latin typeface="Inter"/>
              </a:defRPr>
            </a:pPr>
            <a:r>
              <a:t>Merge predictions</a:t>
            </a:r>
          </a:p>
        </p:txBody>
      </p:sp>
      <p:sp>
        <p:nvSpPr>
          <p:cNvPr id="14" name="TextBox 13"/>
          <p:cNvSpPr txBox="1"/>
          <p:nvPr/>
        </p:nvSpPr>
        <p:spPr>
          <a:xfrm>
            <a:off x="2286000" y="4069080"/>
            <a:ext cx="457200" cy="457200"/>
          </a:xfrm>
          <a:prstGeom prst="rect">
            <a:avLst/>
          </a:prstGeom>
          <a:noFill/>
        </p:spPr>
        <p:txBody>
          <a:bodyPr wrap="square">
            <a:spAutoFit/>
          </a:bodyPr>
          <a:lstStyle/>
          <a:p>
            <a:pPr algn="ctr">
              <a:defRPr sz="2000" b="0">
                <a:solidFill>
                  <a:srgbClr val="4F46E5"/>
                </a:solidFill>
                <a:latin typeface="Inter"/>
              </a:defRPr>
            </a:pPr>
            <a:r>
              <a:t>→</a:t>
            </a:r>
          </a:p>
        </p:txBody>
      </p:sp>
      <p:sp>
        <p:nvSpPr>
          <p:cNvPr id="15" name="Rounded Rectangle 14"/>
          <p:cNvSpPr/>
          <p:nvPr/>
        </p:nvSpPr>
        <p:spPr>
          <a:xfrm>
            <a:off x="2743200" y="3840480"/>
            <a:ext cx="182880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a:lstStyle/>
          <a:p>
            <a:pPr algn="ctr">
              <a:defRPr sz="1300" b="1">
                <a:solidFill>
                  <a:srgbClr val="0F172A"/>
                </a:solidFill>
                <a:latin typeface="Inter"/>
              </a:defRPr>
            </a:pPr>
            <a:r>
              <a:t>7. Find Nodules</a:t>
            </a:r>
          </a:p>
          <a:p>
            <a:pPr algn="ctr">
              <a:spcBef>
                <a:spcPts val="600"/>
              </a:spcBef>
              <a:defRPr sz="1100" b="0">
                <a:solidFill>
                  <a:srgbClr val="94A3B8"/>
                </a:solidFill>
                <a:latin typeface="Inter"/>
              </a:defRPr>
            </a:pPr>
            <a:r>
              <a:t>Locate suspects</a:t>
            </a:r>
          </a:p>
        </p:txBody>
      </p:sp>
      <p:sp>
        <p:nvSpPr>
          <p:cNvPr id="16" name="TextBox 15"/>
          <p:cNvSpPr txBox="1"/>
          <p:nvPr/>
        </p:nvSpPr>
        <p:spPr>
          <a:xfrm>
            <a:off x="4572000" y="4069080"/>
            <a:ext cx="457200" cy="457200"/>
          </a:xfrm>
          <a:prstGeom prst="rect">
            <a:avLst/>
          </a:prstGeom>
          <a:noFill/>
        </p:spPr>
        <p:txBody>
          <a:bodyPr wrap="square">
            <a:spAutoFit/>
          </a:bodyPr>
          <a:lstStyle/>
          <a:p>
            <a:pPr algn="ctr">
              <a:defRPr sz="2000" b="0">
                <a:solidFill>
                  <a:srgbClr val="4F46E5"/>
                </a:solidFill>
                <a:latin typeface="Inter"/>
              </a:defRPr>
            </a:pPr>
            <a:r>
              <a:t>→</a:t>
            </a:r>
          </a:p>
        </p:txBody>
      </p:sp>
      <p:sp>
        <p:nvSpPr>
          <p:cNvPr id="17" name="Rounded Rectangle 16"/>
          <p:cNvSpPr/>
          <p:nvPr/>
        </p:nvSpPr>
        <p:spPr>
          <a:xfrm>
            <a:off x="5029200" y="3840480"/>
            <a:ext cx="182880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a:lstStyle/>
          <a:p>
            <a:pPr algn="ctr">
              <a:defRPr sz="1300" b="1">
                <a:solidFill>
                  <a:srgbClr val="0F172A"/>
                </a:solidFill>
                <a:latin typeface="Inter"/>
              </a:defRPr>
            </a:pPr>
            <a:r>
              <a:t>8. Score</a:t>
            </a:r>
          </a:p>
          <a:p>
            <a:pPr algn="ctr">
              <a:spcBef>
                <a:spcPts val="600"/>
              </a:spcBef>
              <a:defRPr sz="1100" b="0">
                <a:solidFill>
                  <a:srgbClr val="94A3B8"/>
                </a:solidFill>
                <a:latin typeface="Inter"/>
              </a:defRPr>
            </a:pPr>
            <a:r>
              <a:t>Assign confidence</a:t>
            </a:r>
          </a:p>
        </p:txBody>
      </p:sp>
      <p:sp>
        <p:nvSpPr>
          <p:cNvPr id="18" name="TextBox 17"/>
          <p:cNvSpPr txBox="1"/>
          <p:nvPr/>
        </p:nvSpPr>
        <p:spPr>
          <a:xfrm>
            <a:off x="6858000" y="4069080"/>
            <a:ext cx="457200" cy="457200"/>
          </a:xfrm>
          <a:prstGeom prst="rect">
            <a:avLst/>
          </a:prstGeom>
          <a:noFill/>
        </p:spPr>
        <p:txBody>
          <a:bodyPr wrap="square">
            <a:spAutoFit/>
          </a:bodyPr>
          <a:lstStyle/>
          <a:p>
            <a:pPr algn="ctr">
              <a:defRPr sz="2000" b="0">
                <a:solidFill>
                  <a:srgbClr val="4F46E5"/>
                </a:solidFill>
                <a:latin typeface="Inter"/>
              </a:defRPr>
            </a:pPr>
            <a:r>
              <a:t>→</a:t>
            </a:r>
          </a:p>
        </p:txBody>
      </p:sp>
      <p:sp>
        <p:nvSpPr>
          <p:cNvPr id="19" name="Rounded Rectangle 18"/>
          <p:cNvSpPr/>
          <p:nvPr/>
        </p:nvSpPr>
        <p:spPr>
          <a:xfrm>
            <a:off x="7315200" y="3840480"/>
            <a:ext cx="182880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a:lstStyle/>
          <a:p>
            <a:pPr algn="ctr">
              <a:defRPr sz="1300" b="1">
                <a:solidFill>
                  <a:srgbClr val="0F172A"/>
                </a:solidFill>
                <a:latin typeface="Inter"/>
              </a:defRPr>
            </a:pPr>
            <a:r>
              <a:t>9. Save Report</a:t>
            </a:r>
          </a:p>
          <a:p>
            <a:pPr algn="ctr">
              <a:spcBef>
                <a:spcPts val="600"/>
              </a:spcBef>
              <a:defRPr sz="1100" b="0">
                <a:solidFill>
                  <a:srgbClr val="94A3B8"/>
                </a:solidFill>
                <a:latin typeface="Inter"/>
              </a:defRPr>
            </a:pPr>
            <a:r>
              <a:t>Store in database</a:t>
            </a:r>
          </a:p>
        </p:txBody>
      </p:sp>
      <p:sp>
        <p:nvSpPr>
          <p:cNvPr id="20" name="TextBox 19"/>
          <p:cNvSpPr txBox="1"/>
          <p:nvPr/>
        </p:nvSpPr>
        <p:spPr>
          <a:xfrm>
            <a:off x="9144000" y="4069080"/>
            <a:ext cx="457200" cy="457200"/>
          </a:xfrm>
          <a:prstGeom prst="rect">
            <a:avLst/>
          </a:prstGeom>
          <a:noFill/>
        </p:spPr>
        <p:txBody>
          <a:bodyPr wrap="square">
            <a:spAutoFit/>
          </a:bodyPr>
          <a:lstStyle/>
          <a:p>
            <a:pPr algn="ctr">
              <a:defRPr sz="2000" b="0">
                <a:solidFill>
                  <a:srgbClr val="4F46E5"/>
                </a:solidFill>
                <a:latin typeface="Inter"/>
              </a:defRPr>
            </a:pPr>
            <a:r>
              <a:t>→</a:t>
            </a:r>
          </a:p>
        </p:txBody>
      </p:sp>
      <p:sp>
        <p:nvSpPr>
          <p:cNvPr id="21" name="Rounded Rectangle 20"/>
          <p:cNvSpPr/>
          <p:nvPr/>
        </p:nvSpPr>
        <p:spPr>
          <a:xfrm>
            <a:off x="9601200" y="3840480"/>
            <a:ext cx="182880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1600" tIns="101600"/>
          <a:lstStyle/>
          <a:p>
            <a:pPr algn="ctr">
              <a:defRPr sz="1300" b="1">
                <a:solidFill>
                  <a:srgbClr val="0F172A"/>
                </a:solidFill>
                <a:latin typeface="Inter"/>
              </a:defRPr>
            </a:pPr>
            <a:r>
              <a:t>10. Display</a:t>
            </a:r>
          </a:p>
          <a:p>
            <a:pPr algn="ctr">
              <a:spcBef>
                <a:spcPts val="600"/>
              </a:spcBef>
              <a:defRPr sz="1100" b="0">
                <a:solidFill>
                  <a:srgbClr val="94A3B8"/>
                </a:solidFill>
                <a:latin typeface="Inter"/>
              </a:defRPr>
            </a:pPr>
            <a:r>
              <a:t>Show to doctor</a:t>
            </a:r>
          </a:p>
        </p:txBody>
      </p:sp>
      <p:sp>
        <p:nvSpPr>
          <p:cNvPr id="22" name="Rounded Rectangle 21"/>
          <p:cNvSpPr/>
          <p:nvPr/>
        </p:nvSpPr>
        <p:spPr>
          <a:xfrm>
            <a:off x="3200400" y="5486400"/>
            <a:ext cx="54864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F172A"/>
                </a:solidFill>
                <a:latin typeface="Inter"/>
              </a:defRPr>
            </a:pPr>
            <a:r>
              <a:t>Total processing time: ~12 seconds per full scan volume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06.</a:t>
            </a:r>
            <a:r>
              <a:rPr sz="2800" b="1">
                <a:solidFill>
                  <a:srgbClr val="0F172A"/>
                </a:solidFill>
                <a:latin typeface="Inter"/>
              </a:rPr>
              <a:t>  Technologies Used</a:t>
            </a:r>
          </a:p>
        </p:txBody>
      </p:sp>
      <p:sp>
        <p:nvSpPr>
          <p:cNvPr id="3" name="Rounded Rectangle 2"/>
          <p:cNvSpPr/>
          <p:nvPr/>
        </p:nvSpPr>
        <p:spPr>
          <a:xfrm>
            <a:off x="731520" y="1371600"/>
            <a:ext cx="320040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PyTorch</a:t>
            </a:r>
          </a:p>
          <a:p>
            <a:pPr>
              <a:spcBef>
                <a:spcPts val="600"/>
              </a:spcBef>
              <a:defRPr sz="1400">
                <a:solidFill>
                  <a:srgbClr val="475569"/>
                </a:solidFill>
                <a:latin typeface="Inter"/>
              </a:defRPr>
            </a:pPr>
            <a:r>
              <a:t>Deep learning framework used to build and train the 3D neural network model.</a:t>
            </a:r>
          </a:p>
        </p:txBody>
      </p:sp>
      <p:sp>
        <p:nvSpPr>
          <p:cNvPr id="4" name="Rounded Rectangle 3"/>
          <p:cNvSpPr/>
          <p:nvPr/>
        </p:nvSpPr>
        <p:spPr>
          <a:xfrm>
            <a:off x="4206240" y="1371600"/>
            <a:ext cx="320040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React</a:t>
            </a:r>
          </a:p>
          <a:p>
            <a:pPr>
              <a:spcBef>
                <a:spcPts val="600"/>
              </a:spcBef>
              <a:defRPr sz="1400">
                <a:solidFill>
                  <a:srgbClr val="475569"/>
                </a:solidFill>
                <a:latin typeface="Inter"/>
              </a:defRPr>
            </a:pPr>
            <a:r>
              <a:t>JavaScript library for building the interactive web user interface.</a:t>
            </a:r>
          </a:p>
        </p:txBody>
      </p:sp>
      <p:sp>
        <p:nvSpPr>
          <p:cNvPr id="5" name="Rounded Rectangle 4"/>
          <p:cNvSpPr/>
          <p:nvPr/>
        </p:nvSpPr>
        <p:spPr>
          <a:xfrm>
            <a:off x="7680960" y="1371600"/>
            <a:ext cx="320040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Flask</a:t>
            </a:r>
          </a:p>
          <a:p>
            <a:pPr>
              <a:spcBef>
                <a:spcPts val="600"/>
              </a:spcBef>
              <a:defRPr sz="1400">
                <a:solidFill>
                  <a:srgbClr val="475569"/>
                </a:solidFill>
                <a:latin typeface="Inter"/>
              </a:defRPr>
            </a:pPr>
            <a:r>
              <a:t>Python web framework that serves as the backend server handling requests.</a:t>
            </a:r>
          </a:p>
        </p:txBody>
      </p:sp>
      <p:sp>
        <p:nvSpPr>
          <p:cNvPr id="6" name="Rounded Rectangle 5"/>
          <p:cNvSpPr/>
          <p:nvPr/>
        </p:nvSpPr>
        <p:spPr>
          <a:xfrm>
            <a:off x="731520" y="3383280"/>
            <a:ext cx="320040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Vite</a:t>
            </a:r>
          </a:p>
          <a:p>
            <a:pPr>
              <a:spcBef>
                <a:spcPts val="600"/>
              </a:spcBef>
              <a:defRPr sz="1400">
                <a:solidFill>
                  <a:srgbClr val="475569"/>
                </a:solidFill>
                <a:latin typeface="Inter"/>
              </a:defRPr>
            </a:pPr>
            <a:r>
              <a:t>Modern build tool for fast development and optimized production builds.</a:t>
            </a:r>
          </a:p>
        </p:txBody>
      </p:sp>
      <p:sp>
        <p:nvSpPr>
          <p:cNvPr id="7" name="Rounded Rectangle 6"/>
          <p:cNvSpPr/>
          <p:nvPr/>
        </p:nvSpPr>
        <p:spPr>
          <a:xfrm>
            <a:off x="4206240" y="3383280"/>
            <a:ext cx="320040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SQLite</a:t>
            </a:r>
          </a:p>
          <a:p>
            <a:pPr>
              <a:spcBef>
                <a:spcPts val="600"/>
              </a:spcBef>
              <a:defRPr sz="1400">
                <a:solidFill>
                  <a:srgbClr val="475569"/>
                </a:solidFill>
                <a:latin typeface="Inter"/>
              </a:defRPr>
            </a:pPr>
            <a:r>
              <a:t>Lightweight database for storing patient records and diagnostic reports.</a:t>
            </a:r>
          </a:p>
        </p:txBody>
      </p:sp>
      <p:sp>
        <p:nvSpPr>
          <p:cNvPr id="8" name="Rounded Rectangle 7"/>
          <p:cNvSpPr/>
          <p:nvPr/>
        </p:nvSpPr>
        <p:spPr>
          <a:xfrm>
            <a:off x="7680960" y="3383280"/>
            <a:ext cx="320040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TypeScript</a:t>
            </a:r>
          </a:p>
          <a:p>
            <a:pPr>
              <a:spcBef>
                <a:spcPts val="600"/>
              </a:spcBef>
              <a:defRPr sz="1400">
                <a:solidFill>
                  <a:srgbClr val="475569"/>
                </a:solidFill>
                <a:latin typeface="Inter"/>
              </a:defRPr>
            </a:pPr>
            <a:r>
              <a:t>Typed JavaScript for more reliable and maintainable frontend 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07.</a:t>
            </a:r>
            <a:r>
              <a:rPr sz="2800" b="1">
                <a:solidFill>
                  <a:srgbClr val="0F172A"/>
                </a:solidFill>
                <a:latin typeface="Inter"/>
              </a:rPr>
              <a:t>  Datasets &amp; Tools</a:t>
            </a:r>
          </a:p>
        </p:txBody>
      </p:sp>
      <p:sp>
        <p:nvSpPr>
          <p:cNvPr id="3" name="Rounded Rectangle 2"/>
          <p:cNvSpPr/>
          <p:nvPr/>
        </p:nvSpPr>
        <p:spPr>
          <a:xfrm>
            <a:off x="731520" y="1371600"/>
            <a:ext cx="5029200" cy="4846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LUNA16 Dataset</a:t>
            </a:r>
          </a:p>
          <a:p>
            <a:pPr algn="l">
              <a:spcBef>
                <a:spcPts val="600"/>
              </a:spcBef>
              <a:defRPr sz="1400" b="0">
                <a:solidFill>
                  <a:srgbClr val="475569"/>
                </a:solidFill>
                <a:latin typeface="Inter"/>
              </a:defRPr>
            </a:pPr>
            <a:r>
              <a:t>The standard benchmark dataset for lung nodule detection research, used worldwide.</a:t>
            </a:r>
          </a:p>
          <a:p>
            <a:pPr algn="l">
              <a:spcBef>
                <a:spcPts val="600"/>
              </a:spcBef>
              <a:defRPr sz="1800" b="0">
                <a:solidFill>
                  <a:srgbClr val="475569"/>
                </a:solidFill>
                <a:latin typeface="Inter"/>
              </a:defRPr>
            </a:pPr>
          </a:p>
          <a:p>
            <a:pPr algn="l">
              <a:spcBef>
                <a:spcPts val="600"/>
              </a:spcBef>
              <a:defRPr sz="1600" b="1">
                <a:solidFill>
                  <a:srgbClr val="0D9488"/>
                </a:solidFill>
                <a:latin typeface="Inter"/>
              </a:defRPr>
            </a:pPr>
            <a:r>
              <a:t>888 CT Scans  •  1,186 Nodule Annotations</a:t>
            </a:r>
          </a:p>
          <a:p>
            <a:pPr algn="l">
              <a:spcBef>
                <a:spcPts val="600"/>
              </a:spcBef>
              <a:defRPr sz="1800" b="0">
                <a:solidFill>
                  <a:srgbClr val="475569"/>
                </a:solidFill>
                <a:latin typeface="Inter"/>
              </a:defRPr>
            </a:pPr>
          </a:p>
          <a:p>
            <a:pPr algn="l">
              <a:spcBef>
                <a:spcPts val="600"/>
              </a:spcBef>
              <a:defRPr sz="1400" b="1">
                <a:solidFill>
                  <a:srgbClr val="0F172A"/>
                </a:solidFill>
                <a:latin typeface="Inter"/>
              </a:defRPr>
            </a:pPr>
            <a:r>
              <a:t>Data Format:</a:t>
            </a:r>
          </a:p>
          <a:p>
            <a:pPr>
              <a:spcBef>
                <a:spcPts val="400"/>
              </a:spcBef>
              <a:defRPr sz="1300">
                <a:solidFill>
                  <a:srgbClr val="475569"/>
                </a:solidFill>
                <a:latin typeface="Inter"/>
              </a:defRPr>
            </a:pPr>
            <a:r>
              <a:t>▸ .mhd — Metadata file (scan info)</a:t>
            </a:r>
          </a:p>
          <a:p>
            <a:pPr>
              <a:spcBef>
                <a:spcPts val="400"/>
              </a:spcBef>
              <a:defRPr sz="1300">
                <a:solidFill>
                  <a:srgbClr val="475569"/>
                </a:solidFill>
                <a:latin typeface="Inter"/>
              </a:defRPr>
            </a:pPr>
            <a:r>
              <a:t>▸ .raw — Actual 3D image data</a:t>
            </a:r>
          </a:p>
          <a:p>
            <a:pPr>
              <a:spcBef>
                <a:spcPts val="400"/>
              </a:spcBef>
              <a:defRPr sz="1300">
                <a:solidFill>
                  <a:srgbClr val="475569"/>
                </a:solidFill>
                <a:latin typeface="Inter"/>
              </a:defRPr>
            </a:pPr>
            <a:r>
              <a:t>▸ Each scan has 200–400 slices</a:t>
            </a:r>
          </a:p>
        </p:txBody>
      </p:sp>
      <p:sp>
        <p:nvSpPr>
          <p:cNvPr id="4" name="Rounded Rectangle 3"/>
          <p:cNvSpPr/>
          <p:nvPr/>
        </p:nvSpPr>
        <p:spPr>
          <a:xfrm>
            <a:off x="6217920" y="137160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SimpleITK</a:t>
            </a:r>
          </a:p>
          <a:p>
            <a:pPr>
              <a:spcBef>
                <a:spcPts val="600"/>
              </a:spcBef>
              <a:defRPr sz="1400">
                <a:solidFill>
                  <a:srgbClr val="475569"/>
                </a:solidFill>
                <a:latin typeface="Inter"/>
              </a:defRPr>
            </a:pPr>
            <a:r>
              <a:t>Medical imaging library for reading and processing CT scan files.</a:t>
            </a:r>
          </a:p>
        </p:txBody>
      </p:sp>
      <p:sp>
        <p:nvSpPr>
          <p:cNvPr id="5" name="Rounded Rectangle 4"/>
          <p:cNvSpPr/>
          <p:nvPr/>
        </p:nvSpPr>
        <p:spPr>
          <a:xfrm>
            <a:off x="6217920" y="310896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NumPy &amp; SciPy</a:t>
            </a:r>
          </a:p>
          <a:p>
            <a:pPr>
              <a:spcBef>
                <a:spcPts val="600"/>
              </a:spcBef>
              <a:defRPr sz="1400">
                <a:solidFill>
                  <a:srgbClr val="475569"/>
                </a:solidFill>
                <a:latin typeface="Inter"/>
              </a:defRPr>
            </a:pPr>
            <a:r>
              <a:t>Scientific computing libraries for handling large 3D arrays.</a:t>
            </a:r>
          </a:p>
        </p:txBody>
      </p:sp>
      <p:sp>
        <p:nvSpPr>
          <p:cNvPr id="6" name="Rounded Rectangle 5"/>
          <p:cNvSpPr/>
          <p:nvPr/>
        </p:nvSpPr>
        <p:spPr>
          <a:xfrm>
            <a:off x="6217920" y="484632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Recharts</a:t>
            </a:r>
          </a:p>
          <a:p>
            <a:pPr>
              <a:spcBef>
                <a:spcPts val="600"/>
              </a:spcBef>
              <a:defRPr sz="1400">
                <a:solidFill>
                  <a:srgbClr val="475569"/>
                </a:solidFill>
                <a:latin typeface="Inter"/>
              </a:defRPr>
            </a:pPr>
            <a:r>
              <a:t>Charting library for performance graphs and metrics in the frontend.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08.</a:t>
            </a:r>
            <a:r>
              <a:rPr sz="2800" b="1">
                <a:solidFill>
                  <a:srgbClr val="0F172A"/>
                </a:solidFill>
                <a:latin typeface="Inter"/>
              </a:rPr>
              <a:t>  Preprocessing Strategies</a:t>
            </a:r>
          </a:p>
        </p:txBody>
      </p:sp>
      <p:sp>
        <p:nvSpPr>
          <p:cNvPr id="3" name="TextBox 2"/>
          <p:cNvSpPr txBox="1"/>
          <p:nvPr/>
        </p:nvSpPr>
        <p:spPr>
          <a:xfrm>
            <a:off x="1828800" y="1188720"/>
            <a:ext cx="8229600" cy="457200"/>
          </a:xfrm>
          <a:prstGeom prst="rect">
            <a:avLst/>
          </a:prstGeom>
          <a:noFill/>
        </p:spPr>
        <p:txBody>
          <a:bodyPr wrap="square">
            <a:spAutoFit/>
          </a:bodyPr>
          <a:lstStyle/>
          <a:p>
            <a:pPr algn="ctr">
              <a:defRPr sz="1400" b="0">
                <a:solidFill>
                  <a:srgbClr val="475569"/>
                </a:solidFill>
                <a:latin typeface="Inter"/>
              </a:defRPr>
            </a:pPr>
            <a:r>
              <a:t>Before feeding scans to the AI model, the raw data needs to be cleaned and prepared.</a:t>
            </a:r>
          </a:p>
        </p:txBody>
      </p:sp>
      <p:sp>
        <p:nvSpPr>
          <p:cNvPr id="4" name="Rounded Rectangle 3"/>
          <p:cNvSpPr/>
          <p:nvPr/>
        </p:nvSpPr>
        <p:spPr>
          <a:xfrm>
            <a:off x="731520" y="1828800"/>
            <a:ext cx="5029200" cy="1554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Intensity Normalization</a:t>
            </a:r>
          </a:p>
          <a:p>
            <a:pPr>
              <a:spcBef>
                <a:spcPts val="600"/>
              </a:spcBef>
              <a:defRPr sz="1400">
                <a:solidFill>
                  <a:srgbClr val="475569"/>
                </a:solidFill>
                <a:latin typeface="Inter"/>
              </a:defRPr>
            </a:pPr>
            <a:r>
              <a:t>CT scan values are converted to a 0–1 scale. Air and bone are clipped to focus on lung tissue.</a:t>
            </a:r>
          </a:p>
        </p:txBody>
      </p:sp>
      <p:sp>
        <p:nvSpPr>
          <p:cNvPr id="5" name="Rounded Rectangle 4"/>
          <p:cNvSpPr/>
          <p:nvPr/>
        </p:nvSpPr>
        <p:spPr>
          <a:xfrm>
            <a:off x="6217920" y="1828800"/>
            <a:ext cx="5029200" cy="1554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Patch Extraction</a:t>
            </a:r>
          </a:p>
          <a:p>
            <a:pPr>
              <a:spcBef>
                <a:spcPts val="600"/>
              </a:spcBef>
              <a:defRPr sz="1400">
                <a:solidFill>
                  <a:srgbClr val="475569"/>
                </a:solidFill>
                <a:latin typeface="Inter"/>
              </a:defRPr>
            </a:pPr>
            <a:r>
              <a:t>Full scans are cut into small 3D blocks (32×64×64 pixels) the model can process one at a time.</a:t>
            </a:r>
          </a:p>
        </p:txBody>
      </p:sp>
      <p:sp>
        <p:nvSpPr>
          <p:cNvPr id="6" name="Rounded Rectangle 5"/>
          <p:cNvSpPr/>
          <p:nvPr/>
        </p:nvSpPr>
        <p:spPr>
          <a:xfrm>
            <a:off x="731520" y="3657600"/>
            <a:ext cx="5029200" cy="1554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Data Augmentation</a:t>
            </a:r>
          </a:p>
          <a:p>
            <a:pPr>
              <a:spcBef>
                <a:spcPts val="600"/>
              </a:spcBef>
              <a:defRPr sz="1400">
                <a:solidFill>
                  <a:srgbClr val="475569"/>
                </a:solidFill>
                <a:latin typeface="Inter"/>
              </a:defRPr>
            </a:pPr>
            <a:r>
              <a:t>Training patches are randomly flipped, rotated, and have noise added for better generalization.</a:t>
            </a:r>
          </a:p>
        </p:txBody>
      </p:sp>
      <p:sp>
        <p:nvSpPr>
          <p:cNvPr id="7" name="Rounded Rectangle 6"/>
          <p:cNvSpPr/>
          <p:nvPr/>
        </p:nvSpPr>
        <p:spPr>
          <a:xfrm>
            <a:off x="6217920" y="3657600"/>
            <a:ext cx="5029200" cy="1554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Class Balancing</a:t>
            </a:r>
          </a:p>
          <a:p>
            <a:pPr>
              <a:spcBef>
                <a:spcPts val="600"/>
              </a:spcBef>
              <a:defRPr sz="1400">
                <a:solidFill>
                  <a:srgbClr val="475569"/>
                </a:solidFill>
                <a:latin typeface="Inter"/>
              </a:defRPr>
            </a:pPr>
            <a:r>
              <a:t>Equal numbers of "nodule" and "non-nodule" patches prevent model bias.</a:t>
            </a:r>
          </a:p>
        </p:txBody>
      </p:sp>
      <p:sp>
        <p:nvSpPr>
          <p:cNvPr id="8" name="Rounded Rectangle 7"/>
          <p:cNvSpPr/>
          <p:nvPr/>
        </p:nvSpPr>
        <p:spPr>
          <a:xfrm>
            <a:off x="457200" y="5486400"/>
            <a:ext cx="18288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defRPr sz="1200" b="1">
                <a:solidFill>
                  <a:srgbClr val="0F172A"/>
                </a:solidFill>
                <a:latin typeface="Inter"/>
              </a:defRPr>
            </a:pPr>
            <a:r>
              <a:t>Raw CT Scan</a:t>
            </a:r>
          </a:p>
        </p:txBody>
      </p:sp>
      <p:sp>
        <p:nvSpPr>
          <p:cNvPr id="9" name="TextBox 8"/>
          <p:cNvSpPr txBox="1"/>
          <p:nvPr/>
        </p:nvSpPr>
        <p:spPr>
          <a:xfrm>
            <a:off x="2286000" y="5532120"/>
            <a:ext cx="457200" cy="457200"/>
          </a:xfrm>
          <a:prstGeom prst="rect">
            <a:avLst/>
          </a:prstGeom>
          <a:noFill/>
        </p:spPr>
        <p:txBody>
          <a:bodyPr wrap="square">
            <a:spAutoFit/>
          </a:bodyPr>
          <a:lstStyle/>
          <a:p>
            <a:pPr algn="ctr">
              <a:defRPr sz="1800" b="0">
                <a:solidFill>
                  <a:srgbClr val="4F46E5"/>
                </a:solidFill>
                <a:latin typeface="Inter"/>
              </a:defRPr>
            </a:pPr>
            <a:r>
              <a:t>→</a:t>
            </a:r>
          </a:p>
        </p:txBody>
      </p:sp>
      <p:sp>
        <p:nvSpPr>
          <p:cNvPr id="10" name="Rounded Rectangle 9"/>
          <p:cNvSpPr/>
          <p:nvPr/>
        </p:nvSpPr>
        <p:spPr>
          <a:xfrm>
            <a:off x="2743200" y="5486400"/>
            <a:ext cx="18288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defRPr sz="1200" b="1">
                <a:solidFill>
                  <a:srgbClr val="0F172A"/>
                </a:solidFill>
                <a:latin typeface="Inter"/>
              </a:defRPr>
            </a:pPr>
            <a:r>
              <a:t>Normalize</a:t>
            </a:r>
          </a:p>
        </p:txBody>
      </p:sp>
      <p:sp>
        <p:nvSpPr>
          <p:cNvPr id="11" name="TextBox 10"/>
          <p:cNvSpPr txBox="1"/>
          <p:nvPr/>
        </p:nvSpPr>
        <p:spPr>
          <a:xfrm>
            <a:off x="4572000" y="5532120"/>
            <a:ext cx="457200" cy="457200"/>
          </a:xfrm>
          <a:prstGeom prst="rect">
            <a:avLst/>
          </a:prstGeom>
          <a:noFill/>
        </p:spPr>
        <p:txBody>
          <a:bodyPr wrap="square">
            <a:spAutoFit/>
          </a:bodyPr>
          <a:lstStyle/>
          <a:p>
            <a:pPr algn="ctr">
              <a:defRPr sz="1800" b="0">
                <a:solidFill>
                  <a:srgbClr val="4F46E5"/>
                </a:solidFill>
                <a:latin typeface="Inter"/>
              </a:defRPr>
            </a:pPr>
            <a:r>
              <a:t>→</a:t>
            </a:r>
          </a:p>
        </p:txBody>
      </p:sp>
      <p:sp>
        <p:nvSpPr>
          <p:cNvPr id="12" name="Rounded Rectangle 11"/>
          <p:cNvSpPr/>
          <p:nvPr/>
        </p:nvSpPr>
        <p:spPr>
          <a:xfrm>
            <a:off x="5029200" y="5486400"/>
            <a:ext cx="18288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defRPr sz="1200" b="1">
                <a:solidFill>
                  <a:srgbClr val="0F172A"/>
                </a:solidFill>
                <a:latin typeface="Inter"/>
              </a:defRPr>
            </a:pPr>
            <a:r>
              <a:t>Extract Patches</a:t>
            </a:r>
          </a:p>
        </p:txBody>
      </p:sp>
      <p:sp>
        <p:nvSpPr>
          <p:cNvPr id="13" name="TextBox 12"/>
          <p:cNvSpPr txBox="1"/>
          <p:nvPr/>
        </p:nvSpPr>
        <p:spPr>
          <a:xfrm>
            <a:off x="6858000" y="5532120"/>
            <a:ext cx="457200" cy="457200"/>
          </a:xfrm>
          <a:prstGeom prst="rect">
            <a:avLst/>
          </a:prstGeom>
          <a:noFill/>
        </p:spPr>
        <p:txBody>
          <a:bodyPr wrap="square">
            <a:spAutoFit/>
          </a:bodyPr>
          <a:lstStyle/>
          <a:p>
            <a:pPr algn="ctr">
              <a:defRPr sz="1800" b="0">
                <a:solidFill>
                  <a:srgbClr val="4F46E5"/>
                </a:solidFill>
                <a:latin typeface="Inter"/>
              </a:defRPr>
            </a:pPr>
            <a:r>
              <a:t>→</a:t>
            </a:r>
          </a:p>
        </p:txBody>
      </p:sp>
      <p:sp>
        <p:nvSpPr>
          <p:cNvPr id="14" name="Rounded Rectangle 13"/>
          <p:cNvSpPr/>
          <p:nvPr/>
        </p:nvSpPr>
        <p:spPr>
          <a:xfrm>
            <a:off x="7315200" y="5486400"/>
            <a:ext cx="18288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defRPr sz="1200" b="1">
                <a:solidFill>
                  <a:srgbClr val="0F172A"/>
                </a:solidFill>
                <a:latin typeface="Inter"/>
              </a:defRPr>
            </a:pPr>
            <a:r>
              <a:t>Augment</a:t>
            </a:r>
          </a:p>
        </p:txBody>
      </p:sp>
      <p:sp>
        <p:nvSpPr>
          <p:cNvPr id="15" name="TextBox 14"/>
          <p:cNvSpPr txBox="1"/>
          <p:nvPr/>
        </p:nvSpPr>
        <p:spPr>
          <a:xfrm>
            <a:off x="9144000" y="5532120"/>
            <a:ext cx="457200" cy="457200"/>
          </a:xfrm>
          <a:prstGeom prst="rect">
            <a:avLst/>
          </a:prstGeom>
          <a:noFill/>
        </p:spPr>
        <p:txBody>
          <a:bodyPr wrap="square">
            <a:spAutoFit/>
          </a:bodyPr>
          <a:lstStyle/>
          <a:p>
            <a:pPr algn="ctr">
              <a:defRPr sz="1800" b="0">
                <a:solidFill>
                  <a:srgbClr val="4F46E5"/>
                </a:solidFill>
                <a:latin typeface="Inter"/>
              </a:defRPr>
            </a:pPr>
            <a:r>
              <a:t>→</a:t>
            </a:r>
          </a:p>
        </p:txBody>
      </p:sp>
      <p:sp>
        <p:nvSpPr>
          <p:cNvPr id="16" name="Rounded Rectangle 15"/>
          <p:cNvSpPr/>
          <p:nvPr/>
        </p:nvSpPr>
        <p:spPr>
          <a:xfrm>
            <a:off x="9601200" y="5486400"/>
            <a:ext cx="1828800"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76200"/>
          <a:lstStyle/>
          <a:p>
            <a:pPr algn="ctr">
              <a:defRPr sz="1200" b="1">
                <a:solidFill>
                  <a:srgbClr val="0F172A"/>
                </a:solidFill>
                <a:latin typeface="Inter"/>
              </a:defRPr>
            </a:pPr>
            <a:r>
              <a:t>Ready for 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09.</a:t>
            </a:r>
            <a:r>
              <a:rPr sz="2800" b="1">
                <a:solidFill>
                  <a:srgbClr val="0F172A"/>
                </a:solidFill>
                <a:latin typeface="Inter"/>
              </a:rPr>
              <a:t>  Architecture of the Project</a:t>
            </a:r>
          </a:p>
        </p:txBody>
      </p:sp>
      <p:sp>
        <p:nvSpPr>
          <p:cNvPr id="3" name="TextBox 2"/>
          <p:cNvSpPr txBox="1"/>
          <p:nvPr/>
        </p:nvSpPr>
        <p:spPr>
          <a:xfrm>
            <a:off x="1371600" y="1188720"/>
            <a:ext cx="9144000" cy="457200"/>
          </a:xfrm>
          <a:prstGeom prst="rect">
            <a:avLst/>
          </a:prstGeom>
          <a:noFill/>
        </p:spPr>
        <p:txBody>
          <a:bodyPr wrap="square">
            <a:spAutoFit/>
          </a:bodyPr>
          <a:lstStyle/>
          <a:p>
            <a:pPr algn="ctr">
              <a:defRPr sz="1400" b="0">
                <a:solidFill>
                  <a:srgbClr val="475569"/>
                </a:solidFill>
                <a:latin typeface="Inter"/>
              </a:defRPr>
            </a:pPr>
            <a:r>
              <a:t>The AI model uses a 3D U-Net design — an encoder-decoder network that learns to highlight nodules.</a:t>
            </a:r>
          </a:p>
        </p:txBody>
      </p:sp>
      <p:sp>
        <p:nvSpPr>
          <p:cNvPr id="4" name="Rounded Rectangle 3"/>
          <p:cNvSpPr/>
          <p:nvPr/>
        </p:nvSpPr>
        <p:spPr>
          <a:xfrm>
            <a:off x="731520" y="1828800"/>
            <a:ext cx="5029200" cy="1280160"/>
          </a:xfrm>
          <a:prstGeom prst="roundRect">
            <a:avLst/>
          </a:prstGeom>
          <a:solidFill>
            <a:srgbClr val="F8FAFC"/>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Encoder (Compress)</a:t>
            </a:r>
          </a:p>
          <a:p>
            <a:pPr>
              <a:spcBef>
                <a:spcPts val="600"/>
              </a:spcBef>
              <a:defRPr sz="1400">
                <a:solidFill>
                  <a:srgbClr val="475569"/>
                </a:solidFill>
                <a:latin typeface="Inter"/>
              </a:defRPr>
            </a:pPr>
            <a:r>
              <a:t>The scan passes through 4 stages that progressively shrink the image while extracting features.</a:t>
            </a:r>
          </a:p>
        </p:txBody>
      </p:sp>
      <p:sp>
        <p:nvSpPr>
          <p:cNvPr id="5" name="Rounded Rectangle 4"/>
          <p:cNvSpPr/>
          <p:nvPr/>
        </p:nvSpPr>
        <p:spPr>
          <a:xfrm>
            <a:off x="731520" y="3383280"/>
            <a:ext cx="5029200" cy="128016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Bottleneck (Core)</a:t>
            </a:r>
          </a:p>
          <a:p>
            <a:pPr>
              <a:spcBef>
                <a:spcPts val="600"/>
              </a:spcBef>
              <a:defRPr sz="1400">
                <a:solidFill>
                  <a:srgbClr val="475569"/>
                </a:solidFill>
                <a:latin typeface="Inter"/>
              </a:defRPr>
            </a:pPr>
            <a:r>
              <a:t>The deepest layer captures the most meaningful patterns about lung tissue vs. nodules.</a:t>
            </a:r>
          </a:p>
        </p:txBody>
      </p:sp>
      <p:sp>
        <p:nvSpPr>
          <p:cNvPr id="6" name="Rounded Rectangle 5"/>
          <p:cNvSpPr/>
          <p:nvPr/>
        </p:nvSpPr>
        <p:spPr>
          <a:xfrm>
            <a:off x="731520" y="4937760"/>
            <a:ext cx="5029200" cy="128016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Decoder (Expand)</a:t>
            </a:r>
          </a:p>
          <a:p>
            <a:pPr>
              <a:spcBef>
                <a:spcPts val="600"/>
              </a:spcBef>
              <a:defRPr sz="1400">
                <a:solidFill>
                  <a:srgbClr val="475569"/>
                </a:solidFill>
                <a:latin typeface="Inter"/>
              </a:defRPr>
            </a:pPr>
            <a:r>
              <a:t>Expands back to original size using skip connections to recover fine details.</a:t>
            </a:r>
          </a:p>
        </p:txBody>
      </p:sp>
      <p:sp>
        <p:nvSpPr>
          <p:cNvPr id="7" name="Rounded Rectangle 6"/>
          <p:cNvSpPr/>
          <p:nvPr/>
        </p:nvSpPr>
        <p:spPr>
          <a:xfrm>
            <a:off x="6217920" y="1828800"/>
            <a:ext cx="5029200" cy="1280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Residual Blocks</a:t>
            </a:r>
          </a:p>
          <a:p>
            <a:pPr>
              <a:spcBef>
                <a:spcPts val="600"/>
              </a:spcBef>
              <a:defRPr sz="1400">
                <a:solidFill>
                  <a:srgbClr val="475569"/>
                </a:solidFill>
                <a:latin typeface="Inter"/>
              </a:defRPr>
            </a:pPr>
            <a:r>
              <a:t>Shortcut connections help the model train deeper without losing information.</a:t>
            </a:r>
          </a:p>
        </p:txBody>
      </p:sp>
      <p:sp>
        <p:nvSpPr>
          <p:cNvPr id="8" name="Rounded Rectangle 7"/>
          <p:cNvSpPr/>
          <p:nvPr/>
        </p:nvSpPr>
        <p:spPr>
          <a:xfrm>
            <a:off x="6217920" y="3383280"/>
            <a:ext cx="5029200" cy="1280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Skip Connections</a:t>
            </a:r>
          </a:p>
          <a:p>
            <a:pPr>
              <a:spcBef>
                <a:spcPts val="600"/>
              </a:spcBef>
              <a:defRPr sz="1400">
                <a:solidFill>
                  <a:srgbClr val="475569"/>
                </a:solidFill>
                <a:latin typeface="Inter"/>
              </a:defRPr>
            </a:pPr>
            <a:r>
              <a:t>Links between encoder and decoder preserve fine spatial details.</a:t>
            </a:r>
          </a:p>
        </p:txBody>
      </p:sp>
      <p:sp>
        <p:nvSpPr>
          <p:cNvPr id="9" name="Rounded Rectangle 8"/>
          <p:cNvSpPr/>
          <p:nvPr/>
        </p:nvSpPr>
        <p:spPr>
          <a:xfrm>
            <a:off x="6217920" y="4937760"/>
            <a:ext cx="5029200" cy="1280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Mixed Precision</a:t>
            </a:r>
          </a:p>
          <a:p>
            <a:pPr>
              <a:spcBef>
                <a:spcPts val="600"/>
              </a:spcBef>
              <a:defRPr sz="1400">
                <a:solidFill>
                  <a:srgbClr val="475569"/>
                </a:solidFill>
                <a:latin typeface="Inter"/>
              </a:defRPr>
            </a:pPr>
            <a:r>
              <a:t>Uses 16-bit and 32-bit math to train 2× faster with half the memory.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10.</a:t>
            </a:r>
            <a:r>
              <a:rPr sz="2800" b="1">
                <a:solidFill>
                  <a:srgbClr val="0F172A"/>
                </a:solidFill>
                <a:latin typeface="Inter"/>
              </a:rPr>
              <a:t>  Advantages</a:t>
            </a:r>
          </a:p>
        </p:txBody>
      </p:sp>
      <p:sp>
        <p:nvSpPr>
          <p:cNvPr id="3" name="Rounded Rectangle 2"/>
          <p:cNvSpPr/>
          <p:nvPr/>
        </p:nvSpPr>
        <p:spPr>
          <a:xfrm>
            <a:off x="731520" y="137160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3D Analysis</a:t>
            </a:r>
          </a:p>
          <a:p>
            <a:pPr>
              <a:spcBef>
                <a:spcPts val="600"/>
              </a:spcBef>
              <a:defRPr sz="1400">
                <a:solidFill>
                  <a:srgbClr val="475569"/>
                </a:solidFill>
                <a:latin typeface="Inter"/>
              </a:defRPr>
            </a:pPr>
            <a:r>
              <a:t>Analyzes full 3D volume — capturing spatial relationships between slices that flat images miss.</a:t>
            </a:r>
          </a:p>
        </p:txBody>
      </p:sp>
      <p:sp>
        <p:nvSpPr>
          <p:cNvPr id="4" name="Rounded Rectangle 3"/>
          <p:cNvSpPr/>
          <p:nvPr/>
        </p:nvSpPr>
        <p:spPr>
          <a:xfrm>
            <a:off x="6217920" y="137160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Fast Results</a:t>
            </a:r>
          </a:p>
          <a:p>
            <a:pPr>
              <a:spcBef>
                <a:spcPts val="600"/>
              </a:spcBef>
              <a:defRPr sz="1400">
                <a:solidFill>
                  <a:srgbClr val="475569"/>
                </a:solidFill>
                <a:latin typeface="Inter"/>
              </a:defRPr>
            </a:pPr>
            <a:r>
              <a:t>Processes a complete CT scan in ~12 seconds vs. 15–20 minutes for manual review.</a:t>
            </a:r>
          </a:p>
        </p:txBody>
      </p:sp>
      <p:sp>
        <p:nvSpPr>
          <p:cNvPr id="5" name="Rounded Rectangle 4"/>
          <p:cNvSpPr/>
          <p:nvPr/>
        </p:nvSpPr>
        <p:spPr>
          <a:xfrm>
            <a:off x="731520" y="301752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High Detection Rate</a:t>
            </a:r>
          </a:p>
          <a:p>
            <a:pPr>
              <a:spcBef>
                <a:spcPts val="600"/>
              </a:spcBef>
              <a:defRPr sz="1400">
                <a:solidFill>
                  <a:srgbClr val="475569"/>
                </a:solidFill>
                <a:latin typeface="Inter"/>
              </a:defRPr>
            </a:pPr>
            <a:r>
              <a:t>94.2% sensitivity with only 1.79 false alarms per scan.</a:t>
            </a:r>
          </a:p>
        </p:txBody>
      </p:sp>
      <p:sp>
        <p:nvSpPr>
          <p:cNvPr id="6" name="Rounded Rectangle 5"/>
          <p:cNvSpPr/>
          <p:nvPr/>
        </p:nvSpPr>
        <p:spPr>
          <a:xfrm>
            <a:off x="6217920" y="301752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Doctor-Friendly</a:t>
            </a:r>
          </a:p>
          <a:p>
            <a:pPr>
              <a:spcBef>
                <a:spcPts val="600"/>
              </a:spcBef>
              <a:defRPr sz="1400">
                <a:solidFill>
                  <a:srgbClr val="475569"/>
                </a:solidFill>
                <a:latin typeface="Inter"/>
              </a:defRPr>
            </a:pPr>
            <a:r>
              <a:t>Designed as a helpful assistant. Doctors verify every AI finding through the slice viewer.</a:t>
            </a:r>
          </a:p>
        </p:txBody>
      </p:sp>
      <p:sp>
        <p:nvSpPr>
          <p:cNvPr id="7" name="Rounded Rectangle 6"/>
          <p:cNvSpPr/>
          <p:nvPr/>
        </p:nvSpPr>
        <p:spPr>
          <a:xfrm>
            <a:off x="731520" y="466344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Runs Anywhere</a:t>
            </a:r>
          </a:p>
          <a:p>
            <a:pPr>
              <a:spcBef>
                <a:spcPts val="600"/>
              </a:spcBef>
              <a:defRPr sz="1400">
                <a:solidFill>
                  <a:srgbClr val="475569"/>
                </a:solidFill>
                <a:latin typeface="Inter"/>
              </a:defRPr>
            </a:pPr>
            <a:r>
              <a:t>Supports NVIDIA GPUs, Apple Silicon, and regular CPUs — no specialized hardware required.</a:t>
            </a:r>
          </a:p>
        </p:txBody>
      </p:sp>
      <p:sp>
        <p:nvSpPr>
          <p:cNvPr id="8" name="Rounded Rectangle 7"/>
          <p:cNvSpPr/>
          <p:nvPr/>
        </p:nvSpPr>
        <p:spPr>
          <a:xfrm>
            <a:off x="6217920" y="466344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Web-Based</a:t>
            </a:r>
          </a:p>
          <a:p>
            <a:pPr>
              <a:spcBef>
                <a:spcPts val="600"/>
              </a:spcBef>
              <a:defRPr sz="1400">
                <a:solidFill>
                  <a:srgbClr val="475569"/>
                </a:solidFill>
                <a:latin typeface="Inter"/>
              </a:defRPr>
            </a:pPr>
            <a:r>
              <a:t>No software installation needed. Works through any modern web browser.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11.</a:t>
            </a:r>
            <a:r>
              <a:rPr sz="2800" b="1">
                <a:solidFill>
                  <a:srgbClr val="0F172A"/>
                </a:solidFill>
                <a:latin typeface="Inter"/>
              </a:rPr>
              <a:t>  Applications</a:t>
            </a:r>
          </a:p>
        </p:txBody>
      </p:sp>
      <p:sp>
        <p:nvSpPr>
          <p:cNvPr id="3" name="Rounded Rectangle 2"/>
          <p:cNvSpPr/>
          <p:nvPr/>
        </p:nvSpPr>
        <p:spPr>
          <a:xfrm>
            <a:off x="731520" y="137160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Hospital Screening</a:t>
            </a:r>
          </a:p>
          <a:p>
            <a:pPr>
              <a:spcBef>
                <a:spcPts val="600"/>
              </a:spcBef>
              <a:defRPr sz="1400">
                <a:solidFill>
                  <a:srgbClr val="475569"/>
                </a:solidFill>
                <a:latin typeface="Inter"/>
              </a:defRPr>
            </a:pPr>
            <a:r>
              <a:t>First-pass screening tool to quickly clear normal scans and flag suspicious ones.</a:t>
            </a:r>
          </a:p>
        </p:txBody>
      </p:sp>
      <p:sp>
        <p:nvSpPr>
          <p:cNvPr id="4" name="Rounded Rectangle 3"/>
          <p:cNvSpPr/>
          <p:nvPr/>
        </p:nvSpPr>
        <p:spPr>
          <a:xfrm>
            <a:off x="6217920" y="137160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Lung Cancer Screening</a:t>
            </a:r>
          </a:p>
          <a:p>
            <a:pPr>
              <a:spcBef>
                <a:spcPts val="600"/>
              </a:spcBef>
              <a:defRPr sz="1400">
                <a:solidFill>
                  <a:srgbClr val="475569"/>
                </a:solidFill>
                <a:latin typeface="Inter"/>
              </a:defRPr>
            </a:pPr>
            <a:r>
              <a:t>Supports large-scale population screening with rapid, consistent assessment.</a:t>
            </a:r>
          </a:p>
        </p:txBody>
      </p:sp>
      <p:sp>
        <p:nvSpPr>
          <p:cNvPr id="5" name="Rounded Rectangle 4"/>
          <p:cNvSpPr/>
          <p:nvPr/>
        </p:nvSpPr>
        <p:spPr>
          <a:xfrm>
            <a:off x="731520" y="301752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Medical Education</a:t>
            </a:r>
          </a:p>
          <a:p>
            <a:pPr>
              <a:spcBef>
                <a:spcPts val="600"/>
              </a:spcBef>
              <a:defRPr sz="1400">
                <a:solidFill>
                  <a:srgbClr val="475569"/>
                </a:solidFill>
                <a:latin typeface="Inter"/>
              </a:defRPr>
            </a:pPr>
            <a:r>
              <a:t>Teaching tool for medical students to understand nodule characteristics and AI diagnosis.</a:t>
            </a:r>
          </a:p>
        </p:txBody>
      </p:sp>
      <p:sp>
        <p:nvSpPr>
          <p:cNvPr id="6" name="Rounded Rectangle 5"/>
          <p:cNvSpPr/>
          <p:nvPr/>
        </p:nvSpPr>
        <p:spPr>
          <a:xfrm>
            <a:off x="6217920" y="301752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Research Platform</a:t>
            </a:r>
          </a:p>
          <a:p>
            <a:pPr>
              <a:spcBef>
                <a:spcPts val="600"/>
              </a:spcBef>
              <a:defRPr sz="1400">
                <a:solidFill>
                  <a:srgbClr val="475569"/>
                </a:solidFill>
                <a:latin typeface="Inter"/>
              </a:defRPr>
            </a:pPr>
            <a:r>
              <a:t>Foundation for researchers to test new AI models on standard benchmarks.</a:t>
            </a:r>
          </a:p>
        </p:txBody>
      </p:sp>
      <p:sp>
        <p:nvSpPr>
          <p:cNvPr id="7" name="Rounded Rectangle 6"/>
          <p:cNvSpPr/>
          <p:nvPr/>
        </p:nvSpPr>
        <p:spPr>
          <a:xfrm>
            <a:off x="731520" y="466344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Rural Healthcare</a:t>
            </a:r>
          </a:p>
          <a:p>
            <a:pPr>
              <a:spcBef>
                <a:spcPts val="600"/>
              </a:spcBef>
              <a:defRPr sz="1400">
                <a:solidFill>
                  <a:srgbClr val="475569"/>
                </a:solidFill>
                <a:latin typeface="Inter"/>
              </a:defRPr>
            </a:pPr>
            <a:r>
              <a:t>Brings expert-level screening to areas with limited access to specialist radiologists.</a:t>
            </a:r>
          </a:p>
        </p:txBody>
      </p:sp>
      <p:sp>
        <p:nvSpPr>
          <p:cNvPr id="8" name="Rounded Rectangle 7"/>
          <p:cNvSpPr/>
          <p:nvPr/>
        </p:nvSpPr>
        <p:spPr>
          <a:xfrm>
            <a:off x="6217920" y="4663440"/>
            <a:ext cx="50292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Emergency Triage</a:t>
            </a:r>
          </a:p>
          <a:p>
            <a:pPr>
              <a:spcBef>
                <a:spcPts val="600"/>
              </a:spcBef>
              <a:defRPr sz="1400">
                <a:solidFill>
                  <a:srgbClr val="475569"/>
                </a:solidFill>
                <a:latin typeface="Inter"/>
              </a:defRPr>
            </a:pPr>
            <a:r>
              <a:t>Quickly identifies scans needing immediate attention in busy emergency departments.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12.</a:t>
            </a:r>
            <a:r>
              <a:rPr sz="2800" b="1">
                <a:solidFill>
                  <a:srgbClr val="0F172A"/>
                </a:solidFill>
                <a:latin typeface="Inter"/>
              </a:rPr>
              <a:t>  Limitations</a:t>
            </a:r>
          </a:p>
        </p:txBody>
      </p:sp>
      <p:sp>
        <p:nvSpPr>
          <p:cNvPr id="3" name="Rounded Rectangle 2"/>
          <p:cNvSpPr/>
          <p:nvPr/>
        </p:nvSpPr>
        <p:spPr>
          <a:xfrm>
            <a:off x="731520" y="1371600"/>
            <a:ext cx="5029200" cy="137160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Small Nodule Challenge</a:t>
            </a:r>
          </a:p>
          <a:p>
            <a:pPr>
              <a:spcBef>
                <a:spcPts val="600"/>
              </a:spcBef>
              <a:defRPr sz="1400">
                <a:solidFill>
                  <a:srgbClr val="475569"/>
                </a:solidFill>
                <a:latin typeface="Inter"/>
              </a:defRPr>
            </a:pPr>
            <a:r>
              <a:t>Nodules &lt; 3mm may be missed as the model is trained on annotations ≥ 3mm.</a:t>
            </a:r>
          </a:p>
        </p:txBody>
      </p:sp>
      <p:sp>
        <p:nvSpPr>
          <p:cNvPr id="4" name="Rounded Rectangle 3"/>
          <p:cNvSpPr/>
          <p:nvPr/>
        </p:nvSpPr>
        <p:spPr>
          <a:xfrm>
            <a:off x="6217920" y="1371600"/>
            <a:ext cx="5029200" cy="1371600"/>
          </a:xfrm>
          <a:prstGeom prst="roundRect">
            <a:avLst/>
          </a:prstGeom>
          <a:solidFill>
            <a:srgbClr val="F8FAFC"/>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Memory Requirements</a:t>
            </a:r>
          </a:p>
          <a:p>
            <a:pPr>
              <a:spcBef>
                <a:spcPts val="600"/>
              </a:spcBef>
              <a:defRPr sz="1400">
                <a:solidFill>
                  <a:srgbClr val="475569"/>
                </a:solidFill>
                <a:latin typeface="Inter"/>
              </a:defRPr>
            </a:pPr>
            <a:r>
              <a:t>3D data processing requires significant RAM. Training needs a powerful GPU.</a:t>
            </a:r>
          </a:p>
        </p:txBody>
      </p:sp>
      <p:sp>
        <p:nvSpPr>
          <p:cNvPr id="5" name="Rounded Rectangle 4"/>
          <p:cNvSpPr/>
          <p:nvPr/>
        </p:nvSpPr>
        <p:spPr>
          <a:xfrm>
            <a:off x="731520" y="3017520"/>
            <a:ext cx="5029200" cy="1371600"/>
          </a:xfrm>
          <a:prstGeom prst="roundRect">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File Format Dependency</a:t>
            </a:r>
          </a:p>
          <a:p>
            <a:pPr>
              <a:spcBef>
                <a:spcPts val="600"/>
              </a:spcBef>
              <a:defRPr sz="1400">
                <a:solidFill>
                  <a:srgbClr val="475569"/>
                </a:solidFill>
                <a:latin typeface="Inter"/>
              </a:defRPr>
            </a:pPr>
            <a:r>
              <a:t>Currently only supports MetaImage (.mhd/.raw). DICOM not yet supported.</a:t>
            </a:r>
          </a:p>
        </p:txBody>
      </p:sp>
      <p:sp>
        <p:nvSpPr>
          <p:cNvPr id="6" name="Rounded Rectangle 5"/>
          <p:cNvSpPr/>
          <p:nvPr/>
        </p:nvSpPr>
        <p:spPr>
          <a:xfrm>
            <a:off x="6217920" y="3017520"/>
            <a:ext cx="5029200" cy="1371600"/>
          </a:xfrm>
          <a:prstGeom prst="roundRect">
            <a:avLst/>
          </a:prstGeom>
          <a:solidFill>
            <a:srgbClr val="F8FAFC"/>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No Malignancy Classification</a:t>
            </a:r>
          </a:p>
          <a:p>
            <a:pPr>
              <a:spcBef>
                <a:spcPts val="600"/>
              </a:spcBef>
              <a:defRPr sz="1400">
                <a:solidFill>
                  <a:srgbClr val="475569"/>
                </a:solidFill>
                <a:latin typeface="Inter"/>
              </a:defRPr>
            </a:pPr>
            <a:r>
              <a:t>Detects nodules but does not classify them as benign or malignant.</a:t>
            </a:r>
          </a:p>
        </p:txBody>
      </p:sp>
      <p:sp>
        <p:nvSpPr>
          <p:cNvPr id="7" name="Rounded Rectangle 6"/>
          <p:cNvSpPr/>
          <p:nvPr/>
        </p:nvSpPr>
        <p:spPr>
          <a:xfrm>
            <a:off x="731520" y="4663440"/>
            <a:ext cx="5029200" cy="1371600"/>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Single Dataset Training</a:t>
            </a:r>
          </a:p>
          <a:p>
            <a:pPr>
              <a:spcBef>
                <a:spcPts val="600"/>
              </a:spcBef>
              <a:defRPr sz="1400">
                <a:solidFill>
                  <a:srgbClr val="475569"/>
                </a:solidFill>
                <a:latin typeface="Inter"/>
              </a:defRPr>
            </a:pPr>
            <a:r>
              <a:t>Trained only on LUNA16. Performance may vary on different scanners.</a:t>
            </a:r>
          </a:p>
        </p:txBody>
      </p:sp>
      <p:sp>
        <p:nvSpPr>
          <p:cNvPr id="8" name="Rounded Rectangle 7"/>
          <p:cNvSpPr/>
          <p:nvPr/>
        </p:nvSpPr>
        <p:spPr>
          <a:xfrm>
            <a:off x="6217920" y="4663440"/>
            <a:ext cx="5029200" cy="1371600"/>
          </a:xfrm>
          <a:prstGeom prst="roundRect">
            <a:avLst/>
          </a:prstGeom>
          <a:solidFill>
            <a:srgbClr val="F8FAFC"/>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600" b="1">
                <a:solidFill>
                  <a:srgbClr val="0F172A"/>
                </a:solidFill>
                <a:latin typeface="Inter"/>
              </a:defRPr>
            </a:pPr>
            <a:r>
              <a:t>⚕️ Not Standalone Diagnostic</a:t>
            </a:r>
          </a:p>
          <a:p>
            <a:pPr>
              <a:spcBef>
                <a:spcPts val="600"/>
              </a:spcBef>
              <a:defRPr sz="1400">
                <a:solidFill>
                  <a:srgbClr val="475569"/>
                </a:solidFill>
                <a:latin typeface="Inter"/>
              </a:defRPr>
            </a:pPr>
            <a:r>
              <a:t>Requires expert radiologist verification for clinical decision-making.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13.</a:t>
            </a:r>
            <a:r>
              <a:rPr sz="2800" b="1">
                <a:solidFill>
                  <a:srgbClr val="0F172A"/>
                </a:solidFill>
                <a:latin typeface="Inter"/>
              </a:rPr>
              <a:t>  UML Diagrams</a:t>
            </a:r>
          </a:p>
        </p:txBody>
      </p:sp>
      <p:sp>
        <p:nvSpPr>
          <p:cNvPr id="3" name="TextBox 2"/>
          <p:cNvSpPr txBox="1"/>
          <p:nvPr/>
        </p:nvSpPr>
        <p:spPr>
          <a:xfrm>
            <a:off x="731520" y="1280160"/>
            <a:ext cx="5029200" cy="365760"/>
          </a:xfrm>
          <a:prstGeom prst="rect">
            <a:avLst/>
          </a:prstGeom>
          <a:noFill/>
        </p:spPr>
        <p:txBody>
          <a:bodyPr wrap="square">
            <a:spAutoFit/>
          </a:bodyPr>
          <a:lstStyle/>
          <a:p>
            <a:pPr algn="ctr">
              <a:defRPr sz="1600" b="1">
                <a:solidFill>
                  <a:srgbClr val="0F172A"/>
                </a:solidFill>
                <a:latin typeface="Inter"/>
              </a:defRPr>
            </a:pPr>
            <a:r>
              <a:t>System Workflow Diagram</a:t>
            </a:r>
          </a:p>
        </p:txBody>
      </p:sp>
      <p:pic>
        <p:nvPicPr>
          <p:cNvPr id="4" name="Picture 3" descr="UML-1.png"/>
          <p:cNvPicPr>
            <a:picLocks noChangeAspect="1"/>
          </p:cNvPicPr>
          <p:nvPr/>
        </p:nvPicPr>
        <p:blipFill>
          <a:blip r:embed="rId2"/>
          <a:stretch>
            <a:fillRect/>
          </a:stretch>
        </p:blipFill>
        <p:spPr>
          <a:xfrm>
            <a:off x="731520" y="1737360"/>
            <a:ext cx="5029200" cy="4114800"/>
          </a:xfrm>
          <a:prstGeom prst="rect">
            <a:avLst/>
          </a:prstGeom>
        </p:spPr>
      </p:pic>
      <p:sp>
        <p:nvSpPr>
          <p:cNvPr id="5" name="TextBox 4"/>
          <p:cNvSpPr txBox="1"/>
          <p:nvPr/>
        </p:nvSpPr>
        <p:spPr>
          <a:xfrm>
            <a:off x="6217920" y="1280160"/>
            <a:ext cx="5029200" cy="365760"/>
          </a:xfrm>
          <a:prstGeom prst="rect">
            <a:avLst/>
          </a:prstGeom>
          <a:noFill/>
        </p:spPr>
        <p:txBody>
          <a:bodyPr wrap="square">
            <a:spAutoFit/>
          </a:bodyPr>
          <a:lstStyle/>
          <a:p>
            <a:pPr algn="ctr">
              <a:defRPr sz="1600" b="1">
                <a:solidFill>
                  <a:srgbClr val="0F172A"/>
                </a:solidFill>
                <a:latin typeface="Inter"/>
              </a:defRPr>
            </a:pPr>
            <a:r>
              <a:t>Performance Comparison Diagram</a:t>
            </a:r>
          </a:p>
        </p:txBody>
      </p:sp>
      <p:pic>
        <p:nvPicPr>
          <p:cNvPr id="6" name="Picture 5" descr="UML-2.png"/>
          <p:cNvPicPr>
            <a:picLocks noChangeAspect="1"/>
          </p:cNvPicPr>
          <p:nvPr/>
        </p:nvPicPr>
        <p:blipFill>
          <a:blip r:embed="rId3"/>
          <a:stretch>
            <a:fillRect/>
          </a:stretch>
        </p:blipFill>
        <p:spPr>
          <a:xfrm>
            <a:off x="6217920" y="1737360"/>
            <a:ext cx="5029200" cy="41148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058400" cy="640080"/>
          </a:xfrm>
          <a:prstGeom prst="rect">
            <a:avLst/>
          </a:prstGeom>
          <a:noFill/>
        </p:spPr>
        <p:txBody>
          <a:bodyPr wrap="square">
            <a:spAutoFit/>
          </a:bodyPr>
          <a:lstStyle/>
          <a:p>
            <a:pPr algn="l">
              <a:defRPr sz="2800" b="1">
                <a:solidFill>
                  <a:srgbClr val="4F46E5"/>
                </a:solidFill>
                <a:latin typeface="Inter"/>
              </a:defRPr>
            </a:pPr>
            <a:r>
              <a:t>14.</a:t>
            </a:r>
            <a:r>
              <a:rPr sz="2800" b="1">
                <a:solidFill>
                  <a:srgbClr val="0F172A"/>
                </a:solidFill>
                <a:latin typeface="Inter"/>
              </a:rPr>
              <a:t>  Conclusion</a:t>
            </a:r>
          </a:p>
        </p:txBody>
      </p:sp>
      <p:sp>
        <p:nvSpPr>
          <p:cNvPr id="3" name="Rounded Rectangle 2"/>
          <p:cNvSpPr/>
          <p:nvPr/>
        </p:nvSpPr>
        <p:spPr>
          <a:xfrm>
            <a:off x="914400" y="1371600"/>
            <a:ext cx="1005840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3200" tIns="152400"/>
          <a:lstStyle/>
          <a:p>
            <a:pPr algn="ctr">
              <a:lnSpc>
                <a:spcPts val="2400"/>
              </a:lnSpc>
              <a:defRPr sz="1500">
                <a:solidFill>
                  <a:srgbClr val="475569"/>
                </a:solidFill>
                <a:latin typeface="Inter"/>
              </a:defRPr>
            </a:pPr>
            <a:r>
              <a:t>We have successfully developed an end-to-end deep learning system for automated lung nodule detection. The system combines a powerful 3D AI model with an intuitive web interface, making advanced screening technology accessible and easy to use.</a:t>
            </a:r>
          </a:p>
        </p:txBody>
      </p:sp>
      <p:sp>
        <p:nvSpPr>
          <p:cNvPr id="4" name="Rounded Rectangle 3"/>
          <p:cNvSpPr/>
          <p:nvPr/>
        </p:nvSpPr>
        <p:spPr>
          <a:xfrm>
            <a:off x="914400" y="3017520"/>
            <a:ext cx="3017520" cy="1097280"/>
          </a:xfrm>
          <a:prstGeom prst="roundRect">
            <a:avLst/>
          </a:prstGeom>
          <a:solidFill>
            <a:srgbClr val="F8FAFC"/>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27000"/>
          <a:lstStyle/>
          <a:p>
            <a:pPr algn="ctr">
              <a:defRPr sz="2800" b="1">
                <a:solidFill>
                  <a:srgbClr val="0D9488"/>
                </a:solidFill>
                <a:latin typeface="Inter"/>
              </a:defRPr>
            </a:pPr>
            <a:r>
              <a:t>94.2%</a:t>
            </a:r>
          </a:p>
          <a:p>
            <a:pPr algn="ctr">
              <a:spcBef>
                <a:spcPts val="600"/>
              </a:spcBef>
              <a:defRPr sz="1200" b="0">
                <a:solidFill>
                  <a:srgbClr val="94A3B8"/>
                </a:solidFill>
                <a:latin typeface="Inter"/>
              </a:defRPr>
            </a:pPr>
            <a:r>
              <a:t>Detection Rate</a:t>
            </a:r>
          </a:p>
        </p:txBody>
      </p:sp>
      <p:sp>
        <p:nvSpPr>
          <p:cNvPr id="5" name="Rounded Rectangle 4"/>
          <p:cNvSpPr/>
          <p:nvPr/>
        </p:nvSpPr>
        <p:spPr>
          <a:xfrm>
            <a:off x="4389120" y="3017520"/>
            <a:ext cx="3017520" cy="1097280"/>
          </a:xfrm>
          <a:prstGeom prst="roundRect">
            <a:avLst/>
          </a:prstGeom>
          <a:solidFill>
            <a:srgbClr val="F8FAFC"/>
          </a:solidFill>
          <a:ln w="254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tIns="127000"/>
          <a:lstStyle/>
          <a:p>
            <a:pPr algn="ctr">
              <a:defRPr sz="2800" b="1">
                <a:solidFill>
                  <a:srgbClr val="4F46E5"/>
                </a:solidFill>
                <a:latin typeface="Inter"/>
              </a:defRPr>
            </a:pPr>
            <a:r>
              <a:t>1.79</a:t>
            </a:r>
          </a:p>
          <a:p>
            <a:pPr algn="ctr">
              <a:spcBef>
                <a:spcPts val="600"/>
              </a:spcBef>
              <a:defRPr sz="1200" b="0">
                <a:solidFill>
                  <a:srgbClr val="94A3B8"/>
                </a:solidFill>
                <a:latin typeface="Inter"/>
              </a:defRPr>
            </a:pPr>
            <a:r>
              <a:t>False Positives / Scan</a:t>
            </a:r>
          </a:p>
        </p:txBody>
      </p:sp>
      <p:sp>
        <p:nvSpPr>
          <p:cNvPr id="6" name="Rounded Rectangle 5"/>
          <p:cNvSpPr/>
          <p:nvPr/>
        </p:nvSpPr>
        <p:spPr>
          <a:xfrm>
            <a:off x="7863840" y="3017520"/>
            <a:ext cx="3017520" cy="1097280"/>
          </a:xfrm>
          <a:prstGeom prst="roundRect">
            <a:avLst/>
          </a:prstGeom>
          <a:solidFill>
            <a:srgbClr val="F8FAFC"/>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127000"/>
          <a:lstStyle/>
          <a:p>
            <a:pPr algn="ctr">
              <a:defRPr sz="2800" b="1">
                <a:solidFill>
                  <a:srgbClr val="D97706"/>
                </a:solidFill>
                <a:latin typeface="Inter"/>
              </a:defRPr>
            </a:pPr>
            <a:r>
              <a:t>~12s</a:t>
            </a:r>
          </a:p>
          <a:p>
            <a:pPr algn="ctr">
              <a:spcBef>
                <a:spcPts val="600"/>
              </a:spcBef>
              <a:defRPr sz="1200" b="0">
                <a:solidFill>
                  <a:srgbClr val="94A3B8"/>
                </a:solidFill>
                <a:latin typeface="Inter"/>
              </a:defRPr>
            </a:pPr>
            <a:r>
              <a:t>Processing Time</a:t>
            </a:r>
          </a:p>
        </p:txBody>
      </p:sp>
      <p:sp>
        <p:nvSpPr>
          <p:cNvPr id="7" name="TextBox 6"/>
          <p:cNvSpPr txBox="1"/>
          <p:nvPr/>
        </p:nvSpPr>
        <p:spPr>
          <a:xfrm>
            <a:off x="914400" y="4389120"/>
            <a:ext cx="4572000" cy="365760"/>
          </a:xfrm>
          <a:prstGeom prst="rect">
            <a:avLst/>
          </a:prstGeom>
          <a:noFill/>
        </p:spPr>
        <p:txBody>
          <a:bodyPr wrap="square">
            <a:spAutoFit/>
          </a:bodyPr>
          <a:lstStyle/>
          <a:p>
            <a:pPr algn="l">
              <a:defRPr sz="1800" b="1">
                <a:solidFill>
                  <a:srgbClr val="D97706"/>
                </a:solidFill>
                <a:latin typeface="Inter"/>
              </a:defRPr>
            </a:pPr>
            <a:r>
              <a:t>Future Scope</a:t>
            </a:r>
          </a:p>
        </p:txBody>
      </p:sp>
      <p:sp>
        <p:nvSpPr>
          <p:cNvPr id="8" name="Rounded Rectangle 7"/>
          <p:cNvSpPr/>
          <p:nvPr/>
        </p:nvSpPr>
        <p:spPr>
          <a:xfrm>
            <a:off x="914400" y="4846320"/>
            <a:ext cx="5029200"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300" b="1">
                <a:solidFill>
                  <a:srgbClr val="0F172A"/>
                </a:solidFill>
                <a:latin typeface="Inter"/>
              </a:defRPr>
            </a:pPr>
            <a:r>
              <a:t>🔮 Malignancy Classification</a:t>
            </a:r>
          </a:p>
          <a:p>
            <a:pPr>
              <a:spcBef>
                <a:spcPts val="600"/>
              </a:spcBef>
              <a:defRPr sz="1100">
                <a:solidFill>
                  <a:srgbClr val="475569"/>
                </a:solidFill>
                <a:latin typeface="Inter"/>
              </a:defRPr>
            </a:pPr>
            <a:r>
              <a:t>Benign vs malignant nodule prediction</a:t>
            </a:r>
          </a:p>
        </p:txBody>
      </p:sp>
      <p:sp>
        <p:nvSpPr>
          <p:cNvPr id="9" name="Rounded Rectangle 8"/>
          <p:cNvSpPr/>
          <p:nvPr/>
        </p:nvSpPr>
        <p:spPr>
          <a:xfrm>
            <a:off x="6217920" y="4846320"/>
            <a:ext cx="5029200"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300" b="1">
                <a:solidFill>
                  <a:srgbClr val="0F172A"/>
                </a:solidFill>
                <a:latin typeface="Inter"/>
              </a:defRPr>
            </a:pPr>
            <a:r>
              <a:t>☁️ Cloud Deployment</a:t>
            </a:r>
          </a:p>
          <a:p>
            <a:pPr>
              <a:spcBef>
                <a:spcPts val="600"/>
              </a:spcBef>
              <a:defRPr sz="1100">
                <a:solidFill>
                  <a:srgbClr val="475569"/>
                </a:solidFill>
                <a:latin typeface="Inter"/>
              </a:defRPr>
            </a:pPr>
            <a:r>
              <a:t>DICOM format support for hospital integration</a:t>
            </a:r>
          </a:p>
        </p:txBody>
      </p:sp>
      <p:sp>
        <p:nvSpPr>
          <p:cNvPr id="10" name="Rounded Rectangle 9"/>
          <p:cNvSpPr/>
          <p:nvPr/>
        </p:nvSpPr>
        <p:spPr>
          <a:xfrm>
            <a:off x="914400" y="5669280"/>
            <a:ext cx="5029200"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300" b="1">
                <a:solidFill>
                  <a:srgbClr val="0F172A"/>
                </a:solidFill>
                <a:latin typeface="Inter"/>
              </a:defRPr>
            </a:pPr>
            <a:r>
              <a:t>🧠 Explainable AI</a:t>
            </a:r>
          </a:p>
          <a:p>
            <a:pPr>
              <a:spcBef>
                <a:spcPts val="600"/>
              </a:spcBef>
              <a:defRPr sz="1100">
                <a:solidFill>
                  <a:srgbClr val="475569"/>
                </a:solidFill>
                <a:latin typeface="Inter"/>
              </a:defRPr>
            </a:pPr>
            <a:r>
              <a:t>Heatmaps showing why the model flagged a region</a:t>
            </a:r>
          </a:p>
        </p:txBody>
      </p:sp>
      <p:sp>
        <p:nvSpPr>
          <p:cNvPr id="11" name="Rounded Rectangle 10"/>
          <p:cNvSpPr/>
          <p:nvPr/>
        </p:nvSpPr>
        <p:spPr>
          <a:xfrm>
            <a:off x="6217920" y="5669280"/>
            <a:ext cx="5029200"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300" b="1">
                <a:solidFill>
                  <a:srgbClr val="0F172A"/>
                </a:solidFill>
                <a:latin typeface="Inter"/>
              </a:defRPr>
            </a:pPr>
            <a:r>
              <a:t>🔒 Privacy-Preserving</a:t>
            </a:r>
          </a:p>
          <a:p>
            <a:pPr>
              <a:spcBef>
                <a:spcPts val="600"/>
              </a:spcBef>
              <a:defRPr sz="1100">
                <a:solidFill>
                  <a:srgbClr val="475569"/>
                </a:solidFill>
                <a:latin typeface="Inter"/>
              </a:defRPr>
            </a:pPr>
            <a:r>
              <a:t>Training across multiple hospitals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10058400" cy="914400"/>
          </a:xfrm>
          <a:prstGeom prst="rect">
            <a:avLst/>
          </a:prstGeom>
          <a:noFill/>
        </p:spPr>
        <p:txBody>
          <a:bodyPr wrap="square">
            <a:spAutoFit/>
          </a:bodyPr>
          <a:lstStyle/>
          <a:p>
            <a:pPr algn="ctr">
              <a:defRPr sz="4400" b="1">
                <a:solidFill>
                  <a:srgbClr val="4F46E5"/>
                </a:solidFill>
                <a:latin typeface="Inter"/>
              </a:defRPr>
            </a:pPr>
            <a:r>
              <a:t>Thank You!</a:t>
            </a:r>
          </a:p>
        </p:txBody>
      </p:sp>
      <p:sp>
        <p:nvSpPr>
          <p:cNvPr id="3" name="TextBox 2"/>
          <p:cNvSpPr txBox="1"/>
          <p:nvPr/>
        </p:nvSpPr>
        <p:spPr>
          <a:xfrm>
            <a:off x="914400" y="2377440"/>
            <a:ext cx="10058400" cy="457200"/>
          </a:xfrm>
          <a:prstGeom prst="rect">
            <a:avLst/>
          </a:prstGeom>
          <a:noFill/>
        </p:spPr>
        <p:txBody>
          <a:bodyPr wrap="square">
            <a:spAutoFit/>
          </a:bodyPr>
          <a:lstStyle/>
          <a:p>
            <a:pPr algn="ctr">
              <a:defRPr sz="2000" b="0">
                <a:solidFill>
                  <a:srgbClr val="475569"/>
                </a:solidFill>
                <a:latin typeface="Inter"/>
              </a:defRPr>
            </a:pPr>
            <a:r>
              <a:t>Questions &amp; Discussion</a:t>
            </a:r>
          </a:p>
        </p:txBody>
      </p:sp>
      <p:sp>
        <p:nvSpPr>
          <p:cNvPr id="4" name="Rounded Rectangle 3"/>
          <p:cNvSpPr/>
          <p:nvPr/>
        </p:nvSpPr>
        <p:spPr>
          <a:xfrm>
            <a:off x="3200400" y="3108960"/>
            <a:ext cx="548640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3200" tIns="177800"/>
          <a:lstStyle/>
          <a:p>
            <a:pPr algn="ctr">
              <a:defRPr sz="1600" b="1">
                <a:solidFill>
                  <a:srgbClr val="0F172A"/>
                </a:solidFill>
                <a:latin typeface="Inter"/>
              </a:defRPr>
            </a:pPr>
            <a:r>
              <a:t>Volumetric CT Scan Analysis for Pulmonary Nodule Detection</a:t>
            </a:r>
          </a:p>
          <a:p>
            <a:pPr algn="ctr">
              <a:spcBef>
                <a:spcPts val="600"/>
              </a:spcBef>
              <a:defRPr sz="1300" b="0">
                <a:solidFill>
                  <a:srgbClr val="475569"/>
                </a:solidFill>
                <a:latin typeface="Inter"/>
              </a:defRPr>
            </a:pPr>
            <a:r>
              <a:t>B.Tech Final Year Project — CSE (Data Science)</a:t>
            </a:r>
          </a:p>
          <a:p>
            <a:pPr algn="ctr">
              <a:spcBef>
                <a:spcPts val="600"/>
              </a:spcBef>
              <a:defRPr sz="1200" b="0">
                <a:solidFill>
                  <a:srgbClr val="94A3B8"/>
                </a:solidFill>
                <a:latin typeface="Inter"/>
              </a:defRPr>
            </a:pPr>
            <a:r>
              <a:t>KKR &amp; KSR Institute of Technology and Sciences, Guntur</a:t>
            </a:r>
          </a:p>
        </p:txBody>
      </p:sp>
      <p:sp>
        <p:nvSpPr>
          <p:cNvPr id="5" name="Rounded Rectangle 4"/>
          <p:cNvSpPr/>
          <p:nvPr/>
        </p:nvSpPr>
        <p:spPr>
          <a:xfrm>
            <a:off x="1463040" y="5029200"/>
            <a:ext cx="1737360" cy="45720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tIns="50800"/>
          <a:lstStyle/>
          <a:p>
            <a:pPr algn="ctr">
              <a:defRPr sz="1100" b="1">
                <a:solidFill>
                  <a:srgbClr val="4F46E5"/>
                </a:solidFill>
                <a:latin typeface="Inter"/>
              </a:defRPr>
            </a:pPr>
            <a:r>
              <a:t>B. Sandeep Raghavendra</a:t>
            </a:r>
          </a:p>
        </p:txBody>
      </p:sp>
      <p:sp>
        <p:nvSpPr>
          <p:cNvPr id="6" name="Rounded Rectangle 5"/>
          <p:cNvSpPr/>
          <p:nvPr/>
        </p:nvSpPr>
        <p:spPr>
          <a:xfrm>
            <a:off x="3383280" y="5029200"/>
            <a:ext cx="1737360" cy="45720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tIns="50800"/>
          <a:lstStyle/>
          <a:p>
            <a:pPr algn="ctr">
              <a:defRPr sz="1100" b="1">
                <a:solidFill>
                  <a:srgbClr val="4F46E5"/>
                </a:solidFill>
                <a:latin typeface="Inter"/>
              </a:defRPr>
            </a:pPr>
            <a:r>
              <a:t>A. Jaswanth Kumar</a:t>
            </a:r>
          </a:p>
        </p:txBody>
      </p:sp>
      <p:sp>
        <p:nvSpPr>
          <p:cNvPr id="7" name="Rounded Rectangle 6"/>
          <p:cNvSpPr/>
          <p:nvPr/>
        </p:nvSpPr>
        <p:spPr>
          <a:xfrm>
            <a:off x="5303520" y="5029200"/>
            <a:ext cx="1737360" cy="45720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tIns="50800"/>
          <a:lstStyle/>
          <a:p>
            <a:pPr algn="ctr">
              <a:defRPr sz="1100" b="1">
                <a:solidFill>
                  <a:srgbClr val="4F46E5"/>
                </a:solidFill>
                <a:latin typeface="Inter"/>
              </a:defRPr>
            </a:pPr>
            <a:r>
              <a:t>G. Vignan</a:t>
            </a:r>
          </a:p>
        </p:txBody>
      </p:sp>
      <p:sp>
        <p:nvSpPr>
          <p:cNvPr id="8" name="Rounded Rectangle 7"/>
          <p:cNvSpPr/>
          <p:nvPr/>
        </p:nvSpPr>
        <p:spPr>
          <a:xfrm>
            <a:off x="7223760" y="5029200"/>
            <a:ext cx="1737360" cy="45720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tIns="50800"/>
          <a:lstStyle/>
          <a:p>
            <a:pPr algn="ctr">
              <a:defRPr sz="1100" b="1">
                <a:solidFill>
                  <a:srgbClr val="4F46E5"/>
                </a:solidFill>
                <a:latin typeface="Inter"/>
              </a:defRPr>
            </a:pPr>
            <a:r>
              <a:t>J. Ganesh</a:t>
            </a:r>
          </a:p>
        </p:txBody>
      </p:sp>
      <p:sp>
        <p:nvSpPr>
          <p:cNvPr id="9" name="Rounded Rectangle 8"/>
          <p:cNvSpPr/>
          <p:nvPr/>
        </p:nvSpPr>
        <p:spPr>
          <a:xfrm>
            <a:off x="9144000" y="5029200"/>
            <a:ext cx="1737360" cy="45720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tIns="50800"/>
          <a:lstStyle/>
          <a:p>
            <a:pPr algn="ctr">
              <a:defRPr sz="1100" b="1">
                <a:solidFill>
                  <a:srgbClr val="4F46E5"/>
                </a:solidFill>
                <a:latin typeface="Inter"/>
              </a:defRPr>
            </a:pPr>
            <a:r>
              <a:t>K. Madhu</a:t>
            </a:r>
          </a:p>
        </p:txBody>
      </p:sp>
      <p:sp>
        <p:nvSpPr>
          <p:cNvPr id="10" name="TextBox 9"/>
          <p:cNvSpPr txBox="1"/>
          <p:nvPr/>
        </p:nvSpPr>
        <p:spPr>
          <a:xfrm>
            <a:off x="914400" y="5669280"/>
            <a:ext cx="10058400" cy="365760"/>
          </a:xfrm>
          <a:prstGeom prst="rect">
            <a:avLst/>
          </a:prstGeom>
          <a:noFill/>
        </p:spPr>
        <p:txBody>
          <a:bodyPr wrap="square">
            <a:spAutoFit/>
          </a:bodyPr>
          <a:lstStyle/>
          <a:p>
            <a:pPr algn="ctr">
              <a:defRPr sz="1300" b="0">
                <a:solidFill>
                  <a:srgbClr val="94A3B8"/>
                </a:solidFill>
                <a:latin typeface="Inter"/>
              </a:defRPr>
            </a:pPr>
            <a:r>
              <a:t>Guide: J. Ravindra Babu, Assistant Professor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